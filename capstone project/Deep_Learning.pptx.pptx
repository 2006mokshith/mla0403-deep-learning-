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71" r:id="rId10"/>
    <p:sldId id="263" r:id="rId11"/>
    <p:sldId id="264" r:id="rId12"/>
    <p:sldId id="265" r:id="rId13"/>
    <p:sldId id="279" r:id="rId14"/>
    <p:sldId id="266" r:id="rId15"/>
    <p:sldId id="280" r:id="rId16"/>
    <p:sldId id="267" r:id="rId17"/>
    <p:sldId id="281" r:id="rId18"/>
    <p:sldId id="268" r:id="rId19"/>
    <p:sldId id="282" r:id="rId20"/>
    <p:sldId id="269" r:id="rId21"/>
    <p:sldId id="286" r:id="rId22"/>
    <p:sldId id="272" r:id="rId23"/>
    <p:sldId id="273" r:id="rId24"/>
    <p:sldId id="274" r:id="rId25"/>
    <p:sldId id="276" r:id="rId26"/>
    <p:sldId id="287" r:id="rId27"/>
    <p:sldId id="283" r:id="rId28"/>
    <p:sldId id="284" r:id="rId29"/>
    <p:sldId id="270" r:id="rId30"/>
    <p:sldId id="285" r:id="rId31"/>
    <p:sldId id="277" r:id="rId3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FF0000"/>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595959"/>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000" b="0" i="0">
                <a:solidFill>
                  <a:srgbClr val="595959"/>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81425" y="685152"/>
            <a:ext cx="10549890" cy="519430"/>
          </a:xfrm>
          <a:prstGeom prst="rect">
            <a:avLst/>
          </a:prstGeom>
        </p:spPr>
        <p:txBody>
          <a:bodyPr wrap="square" lIns="0" tIns="0" rIns="0" bIns="0">
            <a:spAutoFit/>
          </a:bodyPr>
          <a:lstStyle>
            <a:lvl1pPr>
              <a:defRPr sz="3600" b="1" i="0">
                <a:solidFill>
                  <a:srgbClr val="FF0000"/>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655067" y="1505639"/>
            <a:ext cx="9924415" cy="3992879"/>
          </a:xfrm>
          <a:prstGeom prst="rect">
            <a:avLst/>
          </a:prstGeom>
        </p:spPr>
        <p:txBody>
          <a:bodyPr wrap="square" lIns="0" tIns="0" rIns="0" bIns="0">
            <a:spAutoFit/>
          </a:bodyPr>
          <a:lstStyle>
            <a:lvl1pPr>
              <a:defRPr sz="2000" b="0" i="0">
                <a:solidFill>
                  <a:srgbClr val="595959"/>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doi.org/10.1007/s44336-024-00011-8?utm_source=chatgpt.com" TargetMode="External"/><Relationship Id="rId4" Type="http://schemas.openxmlformats.org/officeDocument/2006/relationships/hyperlink" Target="https://doi.org/10.1007/s10462-024-11092-8?utm_source=chatgpt.com" TargetMode="External"/><Relationship Id="rId3" Type="http://schemas.openxmlformats.org/officeDocument/2006/relationships/hyperlink" Target="https://ietresearch.onlinelibrary.wiley.com/doi/10.1049/cit2.12241?utm_source=chatgpt.com" TargetMode="External"/><Relationship Id="rId2" Type="http://schemas.openxmlformats.org/officeDocument/2006/relationships/hyperlink" Target="https://www.sciencedirect.com/science/article/pii/S0925231222010116?utm_source=chatgpt.com" TargetMode="External"/><Relationship Id="rId1" Type="http://schemas.openxmlformats.org/officeDocument/2006/relationships/hyperlink" Target="https://www.sciencedirect.com/science/article/pii/S0925231221016179?utm_source=chatgpt.com"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67704" y="1469618"/>
            <a:ext cx="8740140" cy="1342390"/>
          </a:xfrm>
          <a:prstGeom prst="rect">
            <a:avLst/>
          </a:prstGeom>
        </p:spPr>
        <p:txBody>
          <a:bodyPr vert="horz" wrap="square" lIns="0" tIns="11430" rIns="0" bIns="0" rtlCol="0">
            <a:spAutoFit/>
          </a:bodyPr>
          <a:lstStyle/>
          <a:p>
            <a:pPr marL="12065" marR="5080" algn="ctr">
              <a:lnSpc>
                <a:spcPct val="101000"/>
              </a:lnSpc>
              <a:spcBef>
                <a:spcPts val="90"/>
              </a:spcBef>
            </a:pPr>
            <a:r>
              <a:rPr sz="2850" dirty="0"/>
              <a:t>Deep</a:t>
            </a:r>
            <a:r>
              <a:rPr sz="2850" spc="60" dirty="0"/>
              <a:t> </a:t>
            </a:r>
            <a:r>
              <a:rPr sz="2850" dirty="0"/>
              <a:t>Learning-Based</a:t>
            </a:r>
            <a:r>
              <a:rPr sz="2850" spc="65" dirty="0"/>
              <a:t> </a:t>
            </a:r>
            <a:r>
              <a:rPr sz="2850" dirty="0"/>
              <a:t>Crowd</a:t>
            </a:r>
            <a:r>
              <a:rPr sz="2850" spc="60" dirty="0"/>
              <a:t> </a:t>
            </a:r>
            <a:r>
              <a:rPr sz="2850" dirty="0"/>
              <a:t>Density</a:t>
            </a:r>
            <a:r>
              <a:rPr sz="2850" spc="65" dirty="0"/>
              <a:t> </a:t>
            </a:r>
            <a:r>
              <a:rPr sz="2850" dirty="0"/>
              <a:t>Estimation</a:t>
            </a:r>
            <a:r>
              <a:rPr sz="2850" spc="60" dirty="0"/>
              <a:t> </a:t>
            </a:r>
            <a:r>
              <a:rPr sz="2850" spc="-25" dirty="0"/>
              <a:t>and </a:t>
            </a:r>
            <a:r>
              <a:rPr sz="2850" dirty="0"/>
              <a:t>Anomaly</a:t>
            </a:r>
            <a:r>
              <a:rPr sz="2850" spc="55" dirty="0"/>
              <a:t> </a:t>
            </a:r>
            <a:r>
              <a:rPr sz="2850" dirty="0"/>
              <a:t>Detection</a:t>
            </a:r>
            <a:r>
              <a:rPr sz="2850" spc="50" dirty="0"/>
              <a:t> </a:t>
            </a:r>
            <a:r>
              <a:rPr sz="2850" dirty="0"/>
              <a:t>System</a:t>
            </a:r>
            <a:r>
              <a:rPr sz="2850" spc="55" dirty="0"/>
              <a:t> </a:t>
            </a:r>
            <a:r>
              <a:rPr sz="2850" dirty="0"/>
              <a:t>Using</a:t>
            </a:r>
            <a:r>
              <a:rPr sz="2850" spc="50" dirty="0"/>
              <a:t> </a:t>
            </a:r>
            <a:r>
              <a:rPr sz="2850" dirty="0"/>
              <a:t>Radial</a:t>
            </a:r>
            <a:r>
              <a:rPr sz="2850" spc="55" dirty="0"/>
              <a:t> </a:t>
            </a:r>
            <a:r>
              <a:rPr sz="2850" dirty="0"/>
              <a:t>Basis</a:t>
            </a:r>
            <a:r>
              <a:rPr sz="2850" spc="50" dirty="0"/>
              <a:t> </a:t>
            </a:r>
            <a:r>
              <a:rPr sz="2850" spc="-10" dirty="0"/>
              <a:t>Function </a:t>
            </a:r>
            <a:r>
              <a:rPr sz="2850" dirty="0"/>
              <a:t>Network</a:t>
            </a:r>
            <a:r>
              <a:rPr sz="2850" spc="5" dirty="0"/>
              <a:t> </a:t>
            </a:r>
            <a:r>
              <a:rPr sz="2850" dirty="0"/>
              <a:t>(RBFN)</a:t>
            </a:r>
            <a:r>
              <a:rPr sz="2850" spc="10" dirty="0"/>
              <a:t> </a:t>
            </a:r>
            <a:r>
              <a:rPr sz="2850" dirty="0"/>
              <a:t>with</a:t>
            </a:r>
            <a:r>
              <a:rPr sz="2850" spc="5" dirty="0"/>
              <a:t> </a:t>
            </a:r>
            <a:r>
              <a:rPr sz="2850" dirty="0"/>
              <a:t>Open</a:t>
            </a:r>
            <a:r>
              <a:rPr sz="2850" spc="5" dirty="0"/>
              <a:t> </a:t>
            </a:r>
            <a:r>
              <a:rPr sz="2850" spc="-25" dirty="0"/>
              <a:t>CV</a:t>
            </a:r>
            <a:endParaRPr sz="2850"/>
          </a:p>
        </p:txBody>
      </p:sp>
      <p:sp>
        <p:nvSpPr>
          <p:cNvPr id="3" name="object 3"/>
          <p:cNvSpPr txBox="1"/>
          <p:nvPr/>
        </p:nvSpPr>
        <p:spPr>
          <a:xfrm>
            <a:off x="1795780" y="4037965"/>
            <a:ext cx="3500120" cy="948690"/>
          </a:xfrm>
          <a:prstGeom prst="rect">
            <a:avLst/>
          </a:prstGeom>
        </p:spPr>
        <p:txBody>
          <a:bodyPr vert="horz" wrap="square" lIns="0" tIns="12700" rIns="0" bIns="0" rtlCol="0">
            <a:spAutoFit/>
          </a:bodyPr>
          <a:lstStyle/>
          <a:p>
            <a:pPr marL="1075055">
              <a:lnSpc>
                <a:spcPct val="100000"/>
              </a:lnSpc>
              <a:spcBef>
                <a:spcPts val="100"/>
              </a:spcBef>
            </a:pPr>
            <a:r>
              <a:rPr sz="2000" b="1" dirty="0">
                <a:solidFill>
                  <a:srgbClr val="C00000"/>
                </a:solidFill>
                <a:latin typeface="Times New Roman" panose="02020603050405020304"/>
                <a:cs typeface="Times New Roman" panose="02020603050405020304"/>
              </a:rPr>
              <a:t>Guided</a:t>
            </a:r>
            <a:r>
              <a:rPr sz="2000" b="1" spc="-30" dirty="0">
                <a:solidFill>
                  <a:srgbClr val="C00000"/>
                </a:solidFill>
                <a:latin typeface="Times New Roman" panose="02020603050405020304"/>
                <a:cs typeface="Times New Roman" panose="02020603050405020304"/>
              </a:rPr>
              <a:t> </a:t>
            </a:r>
            <a:r>
              <a:rPr sz="2000" b="1" spc="-25" dirty="0">
                <a:solidFill>
                  <a:srgbClr val="C00000"/>
                </a:solidFill>
                <a:latin typeface="Times New Roman" panose="02020603050405020304"/>
                <a:cs typeface="Times New Roman" panose="02020603050405020304"/>
              </a:rPr>
              <a:t>B</a:t>
            </a:r>
            <a:r>
              <a:rPr lang="en-US" altLang="" sz="2000" b="1" spc="-25" dirty="0">
                <a:solidFill>
                  <a:srgbClr val="C00000"/>
                </a:solidFill>
                <a:latin typeface="Times New Roman" panose="02020603050405020304"/>
                <a:cs typeface="Times New Roman" panose="02020603050405020304"/>
              </a:rPr>
              <a:t>Y</a:t>
            </a:r>
            <a:endParaRPr sz="2000" b="1" spc="-25" dirty="0">
              <a:solidFill>
                <a:srgbClr val="C00000"/>
              </a:solidFill>
              <a:latin typeface="Times New Roman" panose="02020603050405020304"/>
              <a:cs typeface="Times New Roman" panose="02020603050405020304"/>
            </a:endParaRPr>
          </a:p>
          <a:p>
            <a:pPr marL="1075055">
              <a:lnSpc>
                <a:spcPct val="100000"/>
              </a:lnSpc>
              <a:spcBef>
                <a:spcPts val="100"/>
              </a:spcBef>
            </a:pPr>
            <a:r>
              <a:rPr sz="2000" b="1" spc="-25" dirty="0">
                <a:solidFill>
                  <a:srgbClr val="002060"/>
                </a:solidFill>
                <a:latin typeface="Times New Roman" panose="02020603050405020304"/>
                <a:cs typeface="Times New Roman" panose="02020603050405020304"/>
              </a:rPr>
              <a:t>Dr.A.M.Arul</a:t>
            </a:r>
            <a:r>
              <a:rPr sz="2000" b="1" spc="-60" dirty="0">
                <a:solidFill>
                  <a:srgbClr val="002060"/>
                </a:solidFill>
                <a:latin typeface="Times New Roman" panose="02020603050405020304"/>
                <a:cs typeface="Times New Roman" panose="02020603050405020304"/>
              </a:rPr>
              <a:t> </a:t>
            </a:r>
            <a:r>
              <a:rPr sz="2000" b="1" spc="-25" dirty="0">
                <a:solidFill>
                  <a:srgbClr val="002060"/>
                </a:solidFill>
                <a:latin typeface="Times New Roman" panose="02020603050405020304"/>
                <a:cs typeface="Times New Roman" panose="02020603050405020304"/>
              </a:rPr>
              <a:t>Raj </a:t>
            </a:r>
            <a:r>
              <a:rPr lang="en-US" altLang="" sz="2000" b="1" spc="-25" dirty="0">
                <a:solidFill>
                  <a:srgbClr val="002060"/>
                </a:solidFill>
                <a:latin typeface="Times New Roman" panose="02020603050405020304"/>
                <a:cs typeface="Times New Roman" panose="02020603050405020304"/>
              </a:rPr>
              <a:t>          </a:t>
            </a:r>
            <a:r>
              <a:rPr sz="2000" b="1" spc="-10" dirty="0">
                <a:solidFill>
                  <a:srgbClr val="002060"/>
                </a:solidFill>
                <a:latin typeface="Times New Roman" panose="02020603050405020304"/>
                <a:cs typeface="Times New Roman" panose="02020603050405020304"/>
              </a:rPr>
              <a:t>Professor</a:t>
            </a:r>
            <a:endParaRPr sz="2000">
              <a:latin typeface="Times New Roman" panose="02020603050405020304"/>
              <a:cs typeface="Times New Roman" panose="02020603050405020304"/>
            </a:endParaRPr>
          </a:p>
        </p:txBody>
      </p:sp>
      <p:sp>
        <p:nvSpPr>
          <p:cNvPr id="4" name="object 4"/>
          <p:cNvSpPr txBox="1"/>
          <p:nvPr/>
        </p:nvSpPr>
        <p:spPr>
          <a:xfrm>
            <a:off x="6849745" y="4037965"/>
            <a:ext cx="4979670" cy="3421380"/>
          </a:xfrm>
          <a:prstGeom prst="rect">
            <a:avLst/>
          </a:prstGeom>
        </p:spPr>
        <p:txBody>
          <a:bodyPr vert="horz" wrap="square" lIns="0" tIns="12700" rIns="0" bIns="0" rtlCol="0">
            <a:spAutoFit/>
          </a:bodyPr>
          <a:lstStyle/>
          <a:p>
            <a:pPr marL="1184275">
              <a:lnSpc>
                <a:spcPct val="100000"/>
              </a:lnSpc>
              <a:spcBef>
                <a:spcPts val="100"/>
              </a:spcBef>
            </a:pPr>
            <a:r>
              <a:rPr sz="2000" b="1" dirty="0">
                <a:solidFill>
                  <a:srgbClr val="C00000"/>
                </a:solidFill>
                <a:latin typeface="Times New Roman" panose="02020603050405020304"/>
                <a:cs typeface="Times New Roman" panose="02020603050405020304"/>
              </a:rPr>
              <a:t>Students</a:t>
            </a:r>
            <a:r>
              <a:rPr sz="2000" b="1" spc="-40" dirty="0">
                <a:solidFill>
                  <a:srgbClr val="C00000"/>
                </a:solidFill>
                <a:latin typeface="Times New Roman" panose="02020603050405020304"/>
                <a:cs typeface="Times New Roman" panose="02020603050405020304"/>
              </a:rPr>
              <a:t> </a:t>
            </a:r>
            <a:r>
              <a:rPr sz="2000" b="1" spc="-20" dirty="0">
                <a:solidFill>
                  <a:srgbClr val="C00000"/>
                </a:solidFill>
                <a:latin typeface="Times New Roman" panose="02020603050405020304"/>
                <a:cs typeface="Times New Roman" panose="02020603050405020304"/>
              </a:rPr>
              <a:t>Name</a:t>
            </a:r>
            <a:endParaRPr sz="2000">
              <a:latin typeface="Times New Roman" panose="02020603050405020304"/>
              <a:cs typeface="Times New Roman" panose="02020603050405020304"/>
            </a:endParaRPr>
          </a:p>
          <a:p>
            <a:pPr marL="793115" algn="just">
              <a:lnSpc>
                <a:spcPct val="100000"/>
              </a:lnSpc>
              <a:spcBef>
                <a:spcPts val="1630"/>
              </a:spcBef>
            </a:pPr>
            <a:r>
              <a:rPr lang="en-US" altLang="" sz="2000" b="1" dirty="0">
                <a:solidFill>
                  <a:srgbClr val="002060"/>
                </a:solidFill>
                <a:latin typeface="Times New Roman" panose="02020603050405020304"/>
                <a:cs typeface="Times New Roman" panose="02020603050405020304"/>
              </a:rPr>
              <a:t>       </a:t>
            </a:r>
            <a:r>
              <a:rPr sz="2000" b="1" dirty="0">
                <a:solidFill>
                  <a:srgbClr val="002060"/>
                </a:solidFill>
                <a:latin typeface="Times New Roman" panose="02020603050405020304"/>
                <a:cs typeface="Times New Roman" panose="02020603050405020304"/>
              </a:rPr>
              <a:t>G</a:t>
            </a:r>
            <a:r>
              <a:rPr sz="2000" b="1" spc="-25" dirty="0">
                <a:solidFill>
                  <a:srgbClr val="002060"/>
                </a:solidFill>
                <a:latin typeface="Times New Roman" panose="02020603050405020304"/>
                <a:cs typeface="Times New Roman" panose="02020603050405020304"/>
              </a:rPr>
              <a:t> </a:t>
            </a:r>
            <a:r>
              <a:rPr sz="2000" b="1" dirty="0">
                <a:solidFill>
                  <a:srgbClr val="002060"/>
                </a:solidFill>
                <a:latin typeface="Times New Roman" panose="02020603050405020304"/>
                <a:cs typeface="Times New Roman" panose="02020603050405020304"/>
              </a:rPr>
              <a:t>Saswanth</a:t>
            </a:r>
            <a:r>
              <a:rPr sz="2000" b="1" spc="-20" dirty="0">
                <a:solidFill>
                  <a:srgbClr val="002060"/>
                </a:solidFill>
                <a:latin typeface="Times New Roman" panose="02020603050405020304"/>
                <a:cs typeface="Times New Roman" panose="02020603050405020304"/>
              </a:rPr>
              <a:t> </a:t>
            </a:r>
            <a:r>
              <a:rPr sz="2000" b="1" spc="-10" dirty="0">
                <a:solidFill>
                  <a:srgbClr val="002060"/>
                </a:solidFill>
                <a:latin typeface="Times New Roman" panose="02020603050405020304"/>
                <a:cs typeface="Times New Roman" panose="02020603050405020304"/>
              </a:rPr>
              <a:t>(192425150)</a:t>
            </a:r>
            <a:endParaRPr sz="2000">
              <a:latin typeface="Times New Roman" panose="02020603050405020304"/>
              <a:cs typeface="Times New Roman" panose="02020603050405020304"/>
            </a:endParaRPr>
          </a:p>
          <a:p>
            <a:pPr marL="1326515" marR="5080" indent="-59690" algn="just">
              <a:lnSpc>
                <a:spcPct val="168000"/>
              </a:lnSpc>
            </a:pPr>
            <a:r>
              <a:rPr sz="2000" b="1" dirty="0">
                <a:solidFill>
                  <a:srgbClr val="002060"/>
                </a:solidFill>
                <a:latin typeface="Times New Roman" panose="02020603050405020304"/>
                <a:cs typeface="Times New Roman" panose="02020603050405020304"/>
              </a:rPr>
              <a:t>p.Mokshith</a:t>
            </a:r>
            <a:r>
              <a:rPr sz="2000" b="1" spc="-70" dirty="0">
                <a:solidFill>
                  <a:srgbClr val="002060"/>
                </a:solidFill>
                <a:latin typeface="Times New Roman" panose="02020603050405020304"/>
                <a:cs typeface="Times New Roman" panose="02020603050405020304"/>
              </a:rPr>
              <a:t> </a:t>
            </a:r>
            <a:r>
              <a:rPr sz="2000" b="1" spc="-10" dirty="0">
                <a:solidFill>
                  <a:srgbClr val="002060"/>
                </a:solidFill>
                <a:latin typeface="Times New Roman" panose="02020603050405020304"/>
                <a:cs typeface="Times New Roman" panose="02020603050405020304"/>
              </a:rPr>
              <a:t>(192425149) </a:t>
            </a:r>
            <a:endParaRPr sz="2000" b="1" spc="-10" dirty="0">
              <a:solidFill>
                <a:srgbClr val="002060"/>
              </a:solidFill>
              <a:latin typeface="Times New Roman" panose="02020603050405020304"/>
              <a:cs typeface="Times New Roman" panose="02020603050405020304"/>
            </a:endParaRPr>
          </a:p>
          <a:p>
            <a:pPr marL="1326515" marR="5080" indent="-59690" algn="just">
              <a:lnSpc>
                <a:spcPct val="168000"/>
              </a:lnSpc>
            </a:pPr>
            <a:r>
              <a:rPr sz="2000" b="1" dirty="0">
                <a:solidFill>
                  <a:srgbClr val="002060"/>
                </a:solidFill>
                <a:latin typeface="Times New Roman" panose="02020603050405020304"/>
                <a:cs typeface="Times New Roman" panose="02020603050405020304"/>
              </a:rPr>
              <a:t>partha </a:t>
            </a:r>
            <a:r>
              <a:rPr sz="2000" b="1" spc="-10" dirty="0">
                <a:solidFill>
                  <a:srgbClr val="002060"/>
                </a:solidFill>
                <a:latin typeface="Times New Roman" panose="02020603050405020304"/>
                <a:cs typeface="Times New Roman" panose="02020603050405020304"/>
              </a:rPr>
              <a:t>saradhi</a:t>
            </a:r>
            <a:endParaRPr sz="2000">
              <a:latin typeface="Times New Roman" panose="02020603050405020304"/>
              <a:cs typeface="Times New Roman" panose="02020603050405020304"/>
            </a:endParaRPr>
          </a:p>
          <a:p>
            <a:pPr marL="12700" algn="just">
              <a:lnSpc>
                <a:spcPct val="100000"/>
              </a:lnSpc>
              <a:spcBef>
                <a:spcPts val="1630"/>
              </a:spcBef>
            </a:pPr>
            <a:r>
              <a:rPr lang="en-US" altLang="" sz="2000" b="1" dirty="0">
                <a:solidFill>
                  <a:srgbClr val="002060"/>
                </a:solidFill>
                <a:latin typeface="Times New Roman" panose="02020603050405020304"/>
                <a:cs typeface="Times New Roman" panose="02020603050405020304"/>
              </a:rPr>
              <a:t>                    </a:t>
            </a:r>
            <a:r>
              <a:rPr sz="2000" b="1" dirty="0">
                <a:solidFill>
                  <a:srgbClr val="002060"/>
                </a:solidFill>
                <a:latin typeface="Times New Roman" panose="02020603050405020304"/>
                <a:cs typeface="Times New Roman" panose="02020603050405020304"/>
              </a:rPr>
              <a:t>Likith</a:t>
            </a:r>
            <a:r>
              <a:rPr sz="2000" b="1" spc="-30" dirty="0">
                <a:solidFill>
                  <a:srgbClr val="002060"/>
                </a:solidFill>
                <a:latin typeface="Times New Roman" panose="02020603050405020304"/>
                <a:cs typeface="Times New Roman" panose="02020603050405020304"/>
              </a:rPr>
              <a:t> </a:t>
            </a:r>
            <a:r>
              <a:rPr sz="2000" b="1" spc="-10" dirty="0">
                <a:solidFill>
                  <a:srgbClr val="002060"/>
                </a:solidFill>
                <a:latin typeface="Times New Roman" panose="02020603050405020304"/>
                <a:cs typeface="Times New Roman" panose="02020603050405020304"/>
              </a:rPr>
              <a:t>reddy</a:t>
            </a:r>
            <a:r>
              <a:rPr lang="en-US" altLang="" sz="2000" b="1" spc="-10" dirty="0">
                <a:solidFill>
                  <a:srgbClr val="002060"/>
                </a:solidFill>
                <a:latin typeface="Times New Roman" panose="02020603050405020304"/>
                <a:cs typeface="Times New Roman" panose="02020603050405020304"/>
              </a:rPr>
              <a:t>     </a:t>
            </a:r>
            <a:endParaRPr lang="en-US" altLang="" sz="2000" b="1" spc="-10" dirty="0">
              <a:solidFill>
                <a:srgbClr val="002060"/>
              </a:solidFill>
              <a:latin typeface="Times New Roman" panose="02020603050405020304"/>
              <a:cs typeface="Times New Roman" panose="02020603050405020304"/>
            </a:endParaRPr>
          </a:p>
          <a:p>
            <a:pPr marL="12700" algn="just">
              <a:lnSpc>
                <a:spcPct val="100000"/>
              </a:lnSpc>
              <a:spcBef>
                <a:spcPts val="1630"/>
              </a:spcBef>
            </a:pPr>
            <a:r>
              <a:rPr lang="en-US" altLang="" sz="2000" b="1" spc="-10" dirty="0">
                <a:solidFill>
                  <a:srgbClr val="002060"/>
                </a:solidFill>
                <a:latin typeface="Times New Roman" panose="02020603050405020304"/>
                <a:cs typeface="Times New Roman" panose="02020603050405020304"/>
              </a:rPr>
              <a:t>                     </a:t>
            </a:r>
            <a:endParaRPr sz="2000" b="1" spc="-10" dirty="0">
              <a:solidFill>
                <a:srgbClr val="002060"/>
              </a:solidFill>
              <a:latin typeface="Times New Roman" panose="02020603050405020304"/>
              <a:cs typeface="Times New Roman" panose="02020603050405020304"/>
            </a:endParaRPr>
          </a:p>
          <a:p>
            <a:pPr marL="12700" algn="just">
              <a:lnSpc>
                <a:spcPct val="100000"/>
              </a:lnSpc>
              <a:spcBef>
                <a:spcPts val="1630"/>
              </a:spcBef>
            </a:pPr>
            <a:endParaRPr sz="2000">
              <a:latin typeface="Times New Roman" panose="02020603050405020304"/>
              <a:cs typeface="Times New Roman" panose="02020603050405020304"/>
            </a:endParaRPr>
          </a:p>
        </p:txBody>
      </p:sp>
      <p:sp>
        <p:nvSpPr>
          <p:cNvPr id="5" name="object 5"/>
          <p:cNvSpPr txBox="1"/>
          <p:nvPr/>
        </p:nvSpPr>
        <p:spPr>
          <a:xfrm>
            <a:off x="2739725" y="3085211"/>
            <a:ext cx="4426585" cy="452120"/>
          </a:xfrm>
          <a:prstGeom prst="rect">
            <a:avLst/>
          </a:prstGeom>
        </p:spPr>
        <p:txBody>
          <a:bodyPr vert="horz" wrap="square" lIns="0" tIns="12700" rIns="0" bIns="0" rtlCol="0">
            <a:spAutoFit/>
          </a:bodyPr>
          <a:lstStyle/>
          <a:p>
            <a:pPr marL="12700">
              <a:lnSpc>
                <a:spcPct val="100000"/>
              </a:lnSpc>
              <a:spcBef>
                <a:spcPts val="100"/>
              </a:spcBef>
            </a:pPr>
            <a:r>
              <a:rPr sz="2800" spc="-30" dirty="0">
                <a:latin typeface="Times New Roman" panose="02020603050405020304"/>
                <a:cs typeface="Times New Roman" panose="02020603050405020304"/>
              </a:rPr>
              <a:t>MLA0403-</a:t>
            </a:r>
            <a:r>
              <a:rPr sz="2800" spc="-10" dirty="0">
                <a:latin typeface="Times New Roman" panose="02020603050405020304"/>
                <a:cs typeface="Times New Roman" panose="02020603050405020304"/>
              </a:rPr>
              <a:t>DEEP</a:t>
            </a:r>
            <a:r>
              <a:rPr sz="2800" spc="-8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LEARNING</a:t>
            </a:r>
            <a:endParaRPr sz="28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70" y="1447787"/>
            <a:ext cx="10549890" cy="519430"/>
          </a:xfrm>
          <a:prstGeom prst="rect">
            <a:avLst/>
          </a:prstGeom>
        </p:spPr>
        <p:txBody>
          <a:bodyPr vert="horz" wrap="square" lIns="0" tIns="12700" rIns="0" bIns="0" rtlCol="0">
            <a:spAutoFit/>
          </a:bodyPr>
          <a:lstStyle/>
          <a:p>
            <a:pPr marL="4636770">
              <a:lnSpc>
                <a:spcPct val="100000"/>
              </a:lnSpc>
              <a:spcBef>
                <a:spcPts val="100"/>
              </a:spcBef>
            </a:pPr>
            <a:r>
              <a:rPr b="0" spc="-10" dirty="0">
                <a:latin typeface="Times New Roman" panose="02020603050405020304"/>
                <a:cs typeface="Times New Roman" panose="02020603050405020304"/>
              </a:rPr>
              <a:t>Abstract</a:t>
            </a:r>
            <a:endParaRPr b="0" spc="-10" dirty="0">
              <a:latin typeface="Times New Roman" panose="02020603050405020304"/>
              <a:cs typeface="Times New Roman" panose="02020603050405020304"/>
            </a:endParaRPr>
          </a:p>
        </p:txBody>
      </p:sp>
      <p:sp>
        <p:nvSpPr>
          <p:cNvPr id="3" name="object 3"/>
          <p:cNvSpPr txBox="1"/>
          <p:nvPr/>
        </p:nvSpPr>
        <p:spPr>
          <a:xfrm>
            <a:off x="761747" y="2590854"/>
            <a:ext cx="9813925" cy="3992879"/>
          </a:xfrm>
          <a:prstGeom prst="rect">
            <a:avLst/>
          </a:prstGeom>
        </p:spPr>
        <p:txBody>
          <a:bodyPr vert="horz" wrap="square" lIns="0" tIns="12700" rIns="0" bIns="0" rtlCol="0">
            <a:spAutoFit/>
          </a:bodyPr>
          <a:lstStyle/>
          <a:p>
            <a:pPr marL="266065" indent="-260350">
              <a:lnSpc>
                <a:spcPct val="100000"/>
              </a:lnSpc>
              <a:spcBef>
                <a:spcPts val="10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Developed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t>
            </a:r>
            <a:r>
              <a:rPr sz="2000" spc="-114"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AI-based</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system</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real-</a:t>
            </a:r>
            <a:r>
              <a:rPr sz="2000" dirty="0">
                <a:solidFill>
                  <a:srgbClr val="595959"/>
                </a:solidFill>
                <a:latin typeface="Times New Roman" panose="02020603050405020304"/>
                <a:cs typeface="Times New Roman" panose="02020603050405020304"/>
              </a:rPr>
              <a:t>time</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estimation</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anomaly</a:t>
            </a:r>
            <a:r>
              <a:rPr sz="2000" spc="-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detection.</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Used</a:t>
            </a:r>
            <a:r>
              <a:rPr sz="2000" spc="-10" dirty="0">
                <a:solidFill>
                  <a:srgbClr val="595959"/>
                </a:solidFill>
                <a:latin typeface="Times New Roman" panose="02020603050405020304"/>
                <a:cs typeface="Times New Roman" panose="02020603050405020304"/>
              </a:rPr>
              <a:t> OpenCV</a:t>
            </a:r>
            <a:r>
              <a:rPr sz="2000" spc="-5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capture,</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preprocessing,</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human</a:t>
            </a:r>
            <a:r>
              <a:rPr sz="2000" spc="-10" dirty="0">
                <a:solidFill>
                  <a:srgbClr val="595959"/>
                </a:solidFill>
                <a:latin typeface="Times New Roman" panose="02020603050405020304"/>
                <a:cs typeface="Times New Roman" panose="02020603050405020304"/>
              </a:rPr>
              <a:t> detection.</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Applied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Radial</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Basis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Function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Network</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(RBFN)</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classification.</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Classified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into</a:t>
            </a:r>
            <a:r>
              <a:rPr sz="2000" spc="-20" dirty="0">
                <a:solidFill>
                  <a:srgbClr val="595959"/>
                </a:solidFill>
                <a:latin typeface="Times New Roman" panose="02020603050405020304"/>
                <a:cs typeface="Times New Roman" panose="02020603050405020304"/>
              </a:rPr>
              <a:t> Low, </a:t>
            </a:r>
            <a:r>
              <a:rPr sz="2000" dirty="0">
                <a:solidFill>
                  <a:srgbClr val="595959"/>
                </a:solidFill>
                <a:latin typeface="Times New Roman" panose="02020603050405020304"/>
                <a:cs typeface="Times New Roman" panose="02020603050405020304"/>
              </a:rPr>
              <a:t>Medium,</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High</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levels.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Detected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abnormal</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behavior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such</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overcrowding</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panic</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movement.</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Generated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instant</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alerts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security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personnel</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during</a:t>
            </a:r>
            <a:r>
              <a:rPr sz="2000" spc="-10" dirty="0">
                <a:solidFill>
                  <a:srgbClr val="595959"/>
                </a:solidFill>
                <a:latin typeface="Times New Roman" panose="02020603050405020304"/>
                <a:cs typeface="Times New Roman" panose="02020603050405020304"/>
              </a:rPr>
              <a:t> emergencies.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Reduced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manual</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monitoring</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improved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efficiency.</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Enhanced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public</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safety</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through</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intelligent</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surveillance.</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70" y="1752587"/>
            <a:ext cx="10549890" cy="519430"/>
          </a:xfrm>
          <a:prstGeom prst="rect">
            <a:avLst/>
          </a:prstGeom>
        </p:spPr>
        <p:txBody>
          <a:bodyPr vert="horz" wrap="square" lIns="0" tIns="12700" rIns="0" bIns="0" rtlCol="0">
            <a:spAutoFit/>
          </a:bodyPr>
          <a:lstStyle/>
          <a:p>
            <a:pPr marL="4216400">
              <a:lnSpc>
                <a:spcPct val="100000"/>
              </a:lnSpc>
              <a:spcBef>
                <a:spcPts val="100"/>
              </a:spcBef>
            </a:pPr>
            <a:r>
              <a:rPr b="0" spc="-10" dirty="0">
                <a:latin typeface="Arial MT"/>
                <a:cs typeface="Arial MT"/>
              </a:rPr>
              <a:t>Introduction</a:t>
            </a:r>
            <a:endParaRPr b="0" spc="-10" dirty="0">
              <a:latin typeface="Arial MT"/>
              <a:cs typeface="Arial MT"/>
            </a:endParaRPr>
          </a:p>
        </p:txBody>
      </p:sp>
      <p:sp>
        <p:nvSpPr>
          <p:cNvPr id="3" name="object 3"/>
          <p:cNvSpPr txBox="1"/>
          <p:nvPr/>
        </p:nvSpPr>
        <p:spPr>
          <a:xfrm>
            <a:off x="761747" y="2362254"/>
            <a:ext cx="8902700" cy="3992879"/>
          </a:xfrm>
          <a:prstGeom prst="rect">
            <a:avLst/>
          </a:prstGeom>
        </p:spPr>
        <p:txBody>
          <a:bodyPr vert="horz" wrap="square" lIns="0" tIns="12700" rIns="0" bIns="0" rtlCol="0">
            <a:spAutoFit/>
          </a:bodyPr>
          <a:lstStyle/>
          <a:p>
            <a:pPr marL="266065" indent="-260350">
              <a:lnSpc>
                <a:spcPct val="100000"/>
              </a:lnSpc>
              <a:spcBef>
                <a:spcPts val="10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Rapid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urbanization</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has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increased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need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intelligent</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monitoring</a:t>
            </a:r>
            <a:r>
              <a:rPr sz="2000" spc="-10" dirty="0">
                <a:solidFill>
                  <a:srgbClr val="595959"/>
                </a:solidFill>
                <a:latin typeface="Times New Roman" panose="02020603050405020304"/>
                <a:cs typeface="Times New Roman" panose="02020603050405020304"/>
              </a:rPr>
              <a:t> systems.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Manual</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CCTV</a:t>
            </a:r>
            <a:r>
              <a:rPr sz="2000" spc="-5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monitoring</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time-consuming</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prone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human</a:t>
            </a:r>
            <a:r>
              <a:rPr sz="2000" spc="-10" dirty="0">
                <a:solidFill>
                  <a:srgbClr val="595959"/>
                </a:solidFill>
                <a:latin typeface="Times New Roman" panose="02020603050405020304"/>
                <a:cs typeface="Times New Roman" panose="02020603050405020304"/>
              </a:rPr>
              <a:t> errors.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Deep</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learning</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enables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automatic</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analysis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with</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higher</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accuracy.</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spc="-10" dirty="0">
                <a:solidFill>
                  <a:srgbClr val="595959"/>
                </a:solidFill>
                <a:latin typeface="Times New Roman" panose="02020603050405020304"/>
                <a:cs typeface="Times New Roman" panose="02020603050405020304"/>
              </a:rPr>
              <a:t>OpenCV</a:t>
            </a:r>
            <a:r>
              <a:rPr sz="2000" spc="-6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performs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image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processing</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feature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extraction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from</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videos.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RBFN</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efficiently</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estimates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using</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extracted</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features.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The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system</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continuously</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monitors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real</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time.</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Automatic</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alerts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help</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authorities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respond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quickly</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abnormal</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situations.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Suitable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smart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public</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security</a:t>
            </a:r>
            <a:r>
              <a:rPr sz="2000" spc="-10" dirty="0">
                <a:solidFill>
                  <a:srgbClr val="595959"/>
                </a:solidFill>
                <a:latin typeface="Times New Roman" panose="02020603050405020304"/>
                <a:cs typeface="Times New Roman" panose="02020603050405020304"/>
              </a:rPr>
              <a:t> applications</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1425" y="1142987"/>
            <a:ext cx="10549890" cy="519430"/>
          </a:xfrm>
          <a:prstGeom prst="rect">
            <a:avLst/>
          </a:prstGeom>
        </p:spPr>
        <p:txBody>
          <a:bodyPr vert="horz" wrap="square" lIns="0" tIns="12700" rIns="0" bIns="0" rtlCol="0">
            <a:spAutoFit/>
          </a:bodyPr>
          <a:lstStyle/>
          <a:p>
            <a:pPr marL="3754755">
              <a:lnSpc>
                <a:spcPct val="100000"/>
              </a:lnSpc>
              <a:spcBef>
                <a:spcPts val="100"/>
              </a:spcBef>
            </a:pPr>
            <a:r>
              <a:rPr b="0" dirty="0">
                <a:latin typeface="Times New Roman" panose="02020603050405020304"/>
                <a:cs typeface="Times New Roman" panose="02020603050405020304"/>
              </a:rPr>
              <a:t>Literature</a:t>
            </a:r>
            <a:r>
              <a:rPr b="0" spc="-195" dirty="0">
                <a:latin typeface="Times New Roman" panose="02020603050405020304"/>
                <a:cs typeface="Times New Roman" panose="02020603050405020304"/>
              </a:rPr>
              <a:t> </a:t>
            </a:r>
            <a:r>
              <a:rPr b="0" spc="-10" dirty="0">
                <a:latin typeface="Times New Roman" panose="02020603050405020304"/>
                <a:cs typeface="Times New Roman" panose="02020603050405020304"/>
              </a:rPr>
              <a:t>Review</a:t>
            </a:r>
            <a:endParaRPr b="0" spc="-10" dirty="0">
              <a:latin typeface="Times New Roman" panose="02020603050405020304"/>
              <a:cs typeface="Times New Roman" panose="02020603050405020304"/>
            </a:endParaRPr>
          </a:p>
        </p:txBody>
      </p:sp>
      <p:graphicFrame>
        <p:nvGraphicFramePr>
          <p:cNvPr id="4" name="Table 3"/>
          <p:cNvGraphicFramePr/>
          <p:nvPr/>
        </p:nvGraphicFramePr>
        <p:xfrm>
          <a:off x="914400" y="1816100"/>
          <a:ext cx="9845675" cy="5041900"/>
        </p:xfrm>
        <a:graphic>
          <a:graphicData uri="http://schemas.openxmlformats.org/drawingml/2006/table">
            <a:tbl>
              <a:tblPr firstRow="1" bandRow="1">
                <a:tableStyleId>{5C22544A-7EE6-4342-B048-85BDC9FD1C3A}</a:tableStyleId>
              </a:tblPr>
              <a:tblGrid>
                <a:gridCol w="1406525"/>
                <a:gridCol w="1406525"/>
                <a:gridCol w="1406525"/>
                <a:gridCol w="1406525"/>
                <a:gridCol w="1406525"/>
                <a:gridCol w="1406525"/>
                <a:gridCol w="1406525"/>
              </a:tblGrid>
              <a:tr h="682625">
                <a:tc>
                  <a:txBody>
                    <a:bodyPr/>
                    <a:p>
                      <a:pPr algn="ctr"/>
                      <a:r>
                        <a:rPr lang="en-US" altLang="zh-CN" sz="1100"/>
                        <a:t>S.No</a:t>
                      </a:r>
                      <a:endParaRPr lang="en-US" altLang="zh-CN" sz="1100"/>
                    </a:p>
                  </a:txBody>
                  <a:tcPr marL="0" marR="0" marT="0" marB="0" anchor="ctr" anchorCtr="0"/>
                </a:tc>
                <a:tc>
                  <a:txBody>
                    <a:bodyPr/>
                    <a:p>
                      <a:pPr algn="ctr"/>
                      <a:r>
                        <a:rPr lang="en-US" altLang="zh-CN" sz="1100"/>
                        <a:t>Year</a:t>
                      </a:r>
                      <a:endParaRPr lang="en-US" altLang="zh-CN" sz="1100"/>
                    </a:p>
                  </a:txBody>
                  <a:tcPr marL="0" marR="0" marT="0" marB="0" anchor="ctr" anchorCtr="0"/>
                </a:tc>
                <a:tc>
                  <a:txBody>
                    <a:bodyPr/>
                    <a:p>
                      <a:pPr algn="ctr"/>
                      <a:r>
                        <a:rPr lang="en-US" altLang="zh-CN" sz="1100"/>
                        <a:t>Author</a:t>
                      </a:r>
                      <a:endParaRPr lang="en-US" altLang="zh-CN" sz="1100"/>
                    </a:p>
                  </a:txBody>
                  <a:tcPr marL="0" marR="0" marT="0" marB="0" anchor="ctr" anchorCtr="0"/>
                </a:tc>
                <a:tc>
                  <a:txBody>
                    <a:bodyPr/>
                    <a:p>
                      <a:pPr algn="ctr"/>
                      <a:r>
                        <a:rPr lang="en-US" altLang="zh-CN" sz="1100"/>
                        <a:t>Title of Journal / Book</a:t>
                      </a:r>
                      <a:endParaRPr lang="en-US" altLang="zh-CN" sz="1100"/>
                    </a:p>
                  </a:txBody>
                  <a:tcPr marL="0" marR="0" marT="0" marB="0" anchor="ctr" anchorCtr="0"/>
                </a:tc>
                <a:tc>
                  <a:txBody>
                    <a:bodyPr/>
                    <a:p>
                      <a:pPr algn="ctr"/>
                      <a:r>
                        <a:rPr lang="en-US" altLang="zh-CN" sz="1100"/>
                        <a:t>Methodology Used</a:t>
                      </a:r>
                      <a:endParaRPr lang="en-US" altLang="zh-CN" sz="1100"/>
                    </a:p>
                  </a:txBody>
                  <a:tcPr marL="0" marR="0" marT="0" marB="0" anchor="ctr" anchorCtr="0"/>
                </a:tc>
                <a:tc>
                  <a:txBody>
                    <a:bodyPr/>
                    <a:p>
                      <a:pPr algn="ctr"/>
                      <a:r>
                        <a:rPr lang="en-US" altLang="zh-CN" sz="1100"/>
                        <a:t>Algorithm Used</a:t>
                      </a:r>
                      <a:endParaRPr lang="en-US" altLang="zh-CN" sz="1100"/>
                    </a:p>
                  </a:txBody>
                  <a:tcPr marL="0" marR="0" marT="0" marB="0" anchor="ctr" anchorCtr="0"/>
                </a:tc>
                <a:tc>
                  <a:txBody>
                    <a:bodyPr/>
                    <a:p>
                      <a:pPr algn="ctr"/>
                      <a:r>
                        <a:rPr lang="en-US" altLang="zh-CN" sz="1100"/>
                        <a:t>Key Findings</a:t>
                      </a:r>
                      <a:endParaRPr lang="en-US" altLang="zh-CN" sz="1100"/>
                    </a:p>
                  </a:txBody>
                  <a:tcPr marL="0" marR="0" marT="0" marB="0" anchor="ctr" anchorCtr="0"/>
                </a:tc>
              </a:tr>
              <a:tr h="856615">
                <a:tc>
                  <a:txBody>
                    <a:bodyPr/>
                    <a:p>
                      <a:pPr algn="ctr"/>
                      <a:r>
                        <a:rPr lang="en-US" altLang="zh-CN" sz="1100"/>
                        <a:t>1</a:t>
                      </a:r>
                      <a:endParaRPr lang="en-US" altLang="zh-CN" sz="1100"/>
                    </a:p>
                  </a:txBody>
                  <a:tcPr marL="0" marR="0" marT="0" marB="0" anchor="ctr" anchorCtr="0"/>
                </a:tc>
                <a:tc>
                  <a:txBody>
                    <a:bodyPr/>
                    <a:p>
                      <a:pPr algn="ctr"/>
                      <a:r>
                        <a:rPr lang="en-US" altLang="zh-CN" sz="1100"/>
                        <a:t>2022</a:t>
                      </a:r>
                      <a:endParaRPr lang="en-US" altLang="zh-CN" sz="1100"/>
                    </a:p>
                  </a:txBody>
                  <a:tcPr marL="0" marR="0" marT="0" marB="0" anchor="ctr" anchorCtr="0"/>
                </a:tc>
                <a:tc>
                  <a:txBody>
                    <a:bodyPr/>
                    <a:p>
                      <a:pPr algn="ctr"/>
                      <a:r>
                        <a:rPr lang="en-US" altLang="zh-CN" sz="1100"/>
                        <a:t>Zizhu Fan et al.</a:t>
                      </a:r>
                      <a:endParaRPr lang="en-US" altLang="zh-CN" sz="1100"/>
                    </a:p>
                  </a:txBody>
                  <a:tcPr marL="0" marR="0" marT="0" marB="0" anchor="ctr" anchorCtr="0"/>
                </a:tc>
                <a:tc>
                  <a:txBody>
                    <a:bodyPr/>
                    <a:p>
                      <a:pPr algn="ctr"/>
                      <a:r>
                        <a:rPr lang="en-US" altLang="zh-CN" sz="1100"/>
                        <a:t>Crowd Counting and Density Estimation</a:t>
                      </a:r>
                      <a:endParaRPr lang="en-US" altLang="zh-CN" sz="1100"/>
                    </a:p>
                  </a:txBody>
                  <a:tcPr marL="0" marR="0" marT="0" marB="0" anchor="ctr" anchorCtr="0"/>
                </a:tc>
                <a:tc>
                  <a:txBody>
                    <a:bodyPr/>
                    <a:p>
                      <a:pPr algn="ctr"/>
                      <a:r>
                        <a:rPr lang="en-US" altLang="zh-CN" sz="1100"/>
                        <a:t>Image density analysis</a:t>
                      </a:r>
                      <a:endParaRPr lang="en-US" altLang="zh-CN" sz="1100"/>
                    </a:p>
                  </a:txBody>
                  <a:tcPr marL="0" marR="0" marT="0" marB="0" anchor="ctr" anchorCtr="0"/>
                </a:tc>
                <a:tc>
                  <a:txBody>
                    <a:bodyPr/>
                    <a:p>
                      <a:pPr algn="ctr"/>
                      <a:r>
                        <a:rPr lang="en-US" altLang="zh-CN" sz="1100"/>
                        <a:t>CNN</a:t>
                      </a:r>
                      <a:endParaRPr lang="en-US" altLang="zh-CN" sz="1100"/>
                    </a:p>
                  </a:txBody>
                  <a:tcPr marL="0" marR="0" marT="0" marB="0" anchor="ctr" anchorCtr="0"/>
                </a:tc>
                <a:tc>
                  <a:txBody>
                    <a:bodyPr/>
                    <a:p>
                      <a:pPr algn="ctr"/>
                      <a:r>
                        <a:rPr lang="en-US" altLang="zh-CN" sz="1100"/>
                        <a:t>Improved crowd counting accuracy (</a:t>
                      </a:r>
                      <a:r>
                        <a:rPr lang="en-US" altLang="zh-CN" sz="1100">
                          <a:hlinkClick r:id="rId1" tooltip="A survey of crowd counting and density estimation based on convolutional neural network - ScienceDirect"/>
                        </a:rPr>
                        <a:t>ScienceDirect</a:t>
                      </a:r>
                      <a:r>
                        <a:rPr lang="en-US" altLang="zh-CN" sz="1100"/>
                        <a:t>)</a:t>
                      </a:r>
                      <a:endParaRPr lang="en-US" altLang="zh-CN" sz="1100">
                        <a:hlinkClick r:id="rId1" tooltip="A survey of crowd counting and density estimation based on convolutional neural network - ScienceDirect"/>
                      </a:endParaRPr>
                    </a:p>
                  </a:txBody>
                  <a:tcPr marL="0" marR="0" marT="0" marB="0" anchor="ctr" anchorCtr="0"/>
                </a:tc>
              </a:tr>
              <a:tr h="856615">
                <a:tc>
                  <a:txBody>
                    <a:bodyPr/>
                    <a:p>
                      <a:pPr algn="ctr"/>
                      <a:r>
                        <a:rPr lang="en-US" altLang="zh-CN" sz="1100"/>
                        <a:t>2</a:t>
                      </a:r>
                      <a:endParaRPr lang="en-US" altLang="zh-CN" sz="1100"/>
                    </a:p>
                  </a:txBody>
                  <a:tcPr marL="0" marR="0" marT="0" marB="0" anchor="ctr" anchorCtr="0"/>
                </a:tc>
                <a:tc>
                  <a:txBody>
                    <a:bodyPr/>
                    <a:p>
                      <a:pPr algn="ctr"/>
                      <a:r>
                        <a:rPr lang="en-US" altLang="zh-CN" sz="1100"/>
                        <a:t>2022</a:t>
                      </a:r>
                      <a:endParaRPr lang="en-US" altLang="zh-CN" sz="1100"/>
                    </a:p>
                  </a:txBody>
                  <a:tcPr marL="0" marR="0" marT="0" marB="0" anchor="ctr" anchorCtr="0"/>
                </a:tc>
                <a:tc>
                  <a:txBody>
                    <a:bodyPr/>
                    <a:p>
                      <a:pPr algn="ctr"/>
                      <a:r>
                        <a:rPr lang="en-US" altLang="zh-CN" sz="1100"/>
                        <a:t>Haoyue Bai et al.</a:t>
                      </a:r>
                      <a:endParaRPr lang="en-US" altLang="zh-CN" sz="1100"/>
                    </a:p>
                  </a:txBody>
                  <a:tcPr marL="0" marR="0" marT="0" marB="0" anchor="ctr" anchorCtr="0"/>
                </a:tc>
                <a:tc>
                  <a:txBody>
                    <a:bodyPr/>
                    <a:p>
                      <a:pPr algn="ctr"/>
                      <a:r>
                        <a:rPr lang="en-US" altLang="zh-CN" sz="1100"/>
                        <a:t>Deep Learning-Based Single Image Crowd Counting</a:t>
                      </a:r>
                      <a:endParaRPr lang="en-US" altLang="zh-CN" sz="1100"/>
                    </a:p>
                  </a:txBody>
                  <a:tcPr marL="0" marR="0" marT="0" marB="0" anchor="ctr" anchorCtr="0"/>
                </a:tc>
                <a:tc>
                  <a:txBody>
                    <a:bodyPr/>
                    <a:p>
                      <a:pPr algn="ctr"/>
                      <a:r>
                        <a:rPr lang="en-US" altLang="zh-CN" sz="1100"/>
                        <a:t>Density map estimation</a:t>
                      </a:r>
                      <a:endParaRPr lang="en-US" altLang="zh-CN" sz="1100"/>
                    </a:p>
                  </a:txBody>
                  <a:tcPr marL="0" marR="0" marT="0" marB="0" anchor="ctr" anchorCtr="0"/>
                </a:tc>
                <a:tc>
                  <a:txBody>
                    <a:bodyPr/>
                    <a:p>
                      <a:pPr algn="ctr"/>
                      <a:r>
                        <a:rPr lang="en-US" altLang="zh-CN" sz="1100"/>
                        <a:t>Deep CNN</a:t>
                      </a:r>
                      <a:endParaRPr lang="en-US" altLang="zh-CN" sz="1100"/>
                    </a:p>
                  </a:txBody>
                  <a:tcPr marL="0" marR="0" marT="0" marB="0" anchor="ctr" anchorCtr="0"/>
                </a:tc>
                <a:tc>
                  <a:txBody>
                    <a:bodyPr/>
                    <a:p>
                      <a:pPr algn="ctr"/>
                      <a:r>
                        <a:rPr lang="en-US" altLang="zh-CN" sz="1100"/>
                        <a:t>Effective density estimation (</a:t>
                      </a:r>
                      <a:r>
                        <a:rPr lang="en-US" altLang="zh-CN" sz="1100">
                          <a:hlinkClick r:id="rId2" tooltip="A survey on deep learning-based single image crowd counting: Network design, loss function and supervisory signal - ScienceDirect"/>
                        </a:rPr>
                        <a:t>ScienceDirect</a:t>
                      </a:r>
                      <a:r>
                        <a:rPr lang="en-US" altLang="zh-CN" sz="1100"/>
                        <a:t>)</a:t>
                      </a:r>
                      <a:endParaRPr lang="en-US" altLang="zh-CN" sz="1100">
                        <a:hlinkClick r:id="rId2" tooltip="A survey on deep learning-based single image crowd counting: Network design, loss function and supervisory signal - ScienceDirect"/>
                      </a:endParaRPr>
                    </a:p>
                  </a:txBody>
                  <a:tcPr marL="0" marR="0" marT="0" marB="0" anchor="ctr" anchorCtr="0"/>
                </a:tc>
              </a:tr>
              <a:tr h="648335">
                <a:tc>
                  <a:txBody>
                    <a:bodyPr/>
                    <a:p>
                      <a:pPr algn="ctr"/>
                      <a:r>
                        <a:rPr lang="en-US" altLang="zh-CN" sz="1100"/>
                        <a:t>3</a:t>
                      </a:r>
                      <a:endParaRPr lang="en-US" altLang="zh-CN" sz="1100"/>
                    </a:p>
                  </a:txBody>
                  <a:tcPr marL="0" marR="0" marT="0" marB="0" anchor="ctr" anchorCtr="0"/>
                </a:tc>
                <a:tc>
                  <a:txBody>
                    <a:bodyPr/>
                    <a:p>
                      <a:pPr algn="ctr"/>
                      <a:r>
                        <a:rPr lang="en-US" altLang="zh-CN" sz="1100"/>
                        <a:t>2024</a:t>
                      </a:r>
                      <a:endParaRPr lang="en-US" altLang="zh-CN" sz="1100"/>
                    </a:p>
                  </a:txBody>
                  <a:tcPr marL="0" marR="0" marT="0" marB="0" anchor="ctr" anchorCtr="0"/>
                </a:tc>
                <a:tc>
                  <a:txBody>
                    <a:bodyPr/>
                    <a:p>
                      <a:pPr algn="ctr"/>
                      <a:r>
                        <a:rPr lang="en-US" altLang="zh-CN" sz="1100"/>
                        <a:t>Lijia Deng et al.</a:t>
                      </a:r>
                      <a:endParaRPr lang="en-US" altLang="zh-CN" sz="1100"/>
                    </a:p>
                  </a:txBody>
                  <a:tcPr marL="0" marR="0" marT="0" marB="0" anchor="ctr" anchorCtr="0"/>
                </a:tc>
                <a:tc>
                  <a:txBody>
                    <a:bodyPr/>
                    <a:p>
                      <a:pPr algn="ctr"/>
                      <a:r>
                        <a:rPr lang="en-US" altLang="zh-CN" sz="1100"/>
                        <a:t>Deep Learning in Crowd Counting</a:t>
                      </a:r>
                      <a:endParaRPr lang="en-US" altLang="zh-CN" sz="1100"/>
                    </a:p>
                  </a:txBody>
                  <a:tcPr marL="0" marR="0" marT="0" marB="0" anchor="ctr" anchorCtr="0"/>
                </a:tc>
                <a:tc>
                  <a:txBody>
                    <a:bodyPr/>
                    <a:p>
                      <a:pPr algn="ctr"/>
                      <a:r>
                        <a:rPr lang="en-US" altLang="zh-CN" sz="1100"/>
                        <a:t>Feature and density analysis</a:t>
                      </a:r>
                      <a:endParaRPr lang="en-US" altLang="zh-CN" sz="1100"/>
                    </a:p>
                  </a:txBody>
                  <a:tcPr marL="0" marR="0" marT="0" marB="0" anchor="ctr" anchorCtr="0"/>
                </a:tc>
                <a:tc>
                  <a:txBody>
                    <a:bodyPr/>
                    <a:p>
                      <a:pPr algn="ctr"/>
                      <a:r>
                        <a:rPr lang="en-US" altLang="zh-CN" sz="1100"/>
                        <a:t>CNN / Deep Learning</a:t>
                      </a:r>
                      <a:endParaRPr lang="en-US" altLang="zh-CN" sz="1100"/>
                    </a:p>
                  </a:txBody>
                  <a:tcPr marL="0" marR="0" marT="0" marB="0" anchor="ctr" anchorCtr="0"/>
                </a:tc>
                <a:tc>
                  <a:txBody>
                    <a:bodyPr/>
                    <a:p>
                      <a:pPr algn="ctr"/>
                      <a:r>
                        <a:rPr lang="en-US" altLang="zh-CN" sz="1100"/>
                        <a:t>Better crowd analysis (</a:t>
                      </a:r>
                      <a:r>
                        <a:rPr lang="en-US" altLang="zh-CN" sz="1100">
                          <a:hlinkClick r:id="rId3" tooltip="Deep learning in crowd counting: A survey - Deng - 2024 - CAAI Transactions on Intelligence Technology - Wiley Online Library"/>
                        </a:rPr>
                        <a:t>IET Research</a:t>
                      </a:r>
                      <a:r>
                        <a:rPr lang="en-US" altLang="zh-CN" sz="1100"/>
                        <a:t>)</a:t>
                      </a:r>
                      <a:endParaRPr lang="en-US" altLang="zh-CN" sz="1100">
                        <a:hlinkClick r:id="rId3" tooltip="Deep learning in crowd counting: A survey - Deng - 2024 - CAAI Transactions on Intelligence Technology - Wiley Online Library"/>
                      </a:endParaRPr>
                    </a:p>
                  </a:txBody>
                  <a:tcPr marL="0" marR="0" marT="0" marB="0" anchor="ctr" anchorCtr="0"/>
                </a:tc>
              </a:tr>
              <a:tr h="855980">
                <a:tc>
                  <a:txBody>
                    <a:bodyPr/>
                    <a:p>
                      <a:pPr algn="ctr"/>
                      <a:r>
                        <a:rPr lang="en-US" altLang="zh-CN" sz="1100"/>
                        <a:t>4</a:t>
                      </a:r>
                      <a:endParaRPr lang="en-US" altLang="zh-CN" sz="1100"/>
                    </a:p>
                  </a:txBody>
                  <a:tcPr marL="0" marR="0" marT="0" marB="0" anchor="ctr" anchorCtr="0"/>
                </a:tc>
                <a:tc>
                  <a:txBody>
                    <a:bodyPr/>
                    <a:p>
                      <a:pPr algn="ctr"/>
                      <a:r>
                        <a:rPr lang="en-US" altLang="zh-CN" sz="1100"/>
                        <a:t>2025</a:t>
                      </a:r>
                      <a:endParaRPr lang="en-US" altLang="zh-CN" sz="1100"/>
                    </a:p>
                  </a:txBody>
                  <a:tcPr marL="0" marR="0" marT="0" marB="0" anchor="ctr" anchorCtr="0"/>
                </a:tc>
                <a:tc>
                  <a:txBody>
                    <a:bodyPr/>
                    <a:p>
                      <a:pPr algn="ctr"/>
                      <a:r>
                        <a:rPr lang="en-US" altLang="zh-CN" sz="1100"/>
                        <a:t>Md. Haidar Sharif et al.</a:t>
                      </a:r>
                      <a:endParaRPr lang="en-US" altLang="zh-CN" sz="1100"/>
                    </a:p>
                  </a:txBody>
                  <a:tcPr marL="0" marR="0" marT="0" marB="0" anchor="ctr" anchorCtr="0"/>
                </a:tc>
                <a:tc>
                  <a:txBody>
                    <a:bodyPr/>
                    <a:p>
                      <a:pPr algn="ctr"/>
                      <a:r>
                        <a:rPr lang="en-US" altLang="zh-CN" sz="1100"/>
                        <a:t>Deep Crowd Anomaly Detection</a:t>
                      </a:r>
                      <a:endParaRPr lang="en-US" altLang="zh-CN" sz="1100"/>
                    </a:p>
                  </a:txBody>
                  <a:tcPr marL="0" marR="0" marT="0" marB="0" anchor="ctr" anchorCtr="0"/>
                </a:tc>
                <a:tc>
                  <a:txBody>
                    <a:bodyPr/>
                    <a:p>
                      <a:pPr algn="ctr"/>
                      <a:r>
                        <a:rPr lang="en-US" altLang="zh-CN" sz="1100"/>
                        <a:t>Video anomaly analysis</a:t>
                      </a:r>
                      <a:endParaRPr lang="en-US" altLang="zh-CN" sz="1100"/>
                    </a:p>
                  </a:txBody>
                  <a:tcPr marL="0" marR="0" marT="0" marB="0" anchor="ctr" anchorCtr="0"/>
                </a:tc>
                <a:tc>
                  <a:txBody>
                    <a:bodyPr/>
                    <a:p>
                      <a:pPr algn="ctr"/>
                      <a:r>
                        <a:rPr lang="en-US" altLang="zh-CN" sz="1100"/>
                        <a:t>CNN / Autoencoder</a:t>
                      </a:r>
                      <a:endParaRPr lang="en-US" altLang="zh-CN" sz="1100"/>
                    </a:p>
                  </a:txBody>
                  <a:tcPr marL="0" marR="0" marT="0" marB="0" anchor="ctr" anchorCtr="0"/>
                </a:tc>
                <a:tc>
                  <a:txBody>
                    <a:bodyPr/>
                    <a:p>
                      <a:pPr algn="ctr"/>
                      <a:r>
                        <a:rPr lang="en-US" altLang="zh-CN" sz="1100"/>
                        <a:t>Detects abnormal crowd behavior (</a:t>
                      </a:r>
                      <a:r>
                        <a:rPr lang="en-US" altLang="zh-CN" sz="1100">
                          <a:hlinkClick r:id="rId4" tooltip="Deep crowd anomaly detection: state-of-the-art, challenges, and future research directions | Artificial Intelligence Review | Springer Nature Link"/>
                        </a:rPr>
                        <a:t>Doi.org</a:t>
                      </a:r>
                      <a:r>
                        <a:rPr lang="en-US" altLang="zh-CN" sz="1100"/>
                        <a:t>)</a:t>
                      </a:r>
                      <a:endParaRPr lang="en-US" altLang="zh-CN" sz="1100">
                        <a:hlinkClick r:id="rId4" tooltip="Deep crowd anomaly detection: state-of-the-art, challenges, and future research directions | Artificial Intelligence Review | Springer Nature Link"/>
                      </a:endParaRPr>
                    </a:p>
                  </a:txBody>
                  <a:tcPr marL="0" marR="0" marT="0" marB="0" anchor="ctr" anchorCtr="0"/>
                </a:tc>
              </a:tr>
              <a:tr h="1141730">
                <a:tc>
                  <a:txBody>
                    <a:bodyPr/>
                    <a:p>
                      <a:pPr algn="ctr"/>
                      <a:r>
                        <a:rPr lang="en-US" altLang="zh-CN" sz="1100"/>
                        <a:t>5</a:t>
                      </a:r>
                      <a:endParaRPr lang="en-US" altLang="zh-CN" sz="1100"/>
                    </a:p>
                  </a:txBody>
                  <a:tcPr marL="0" marR="0" marT="0" marB="0" anchor="ctr" anchorCtr="0"/>
                </a:tc>
                <a:tc>
                  <a:txBody>
                    <a:bodyPr/>
                    <a:p>
                      <a:pPr algn="ctr"/>
                      <a:r>
                        <a:rPr lang="en-US" altLang="zh-CN" sz="1100"/>
                        <a:t>2025</a:t>
                      </a:r>
                      <a:endParaRPr lang="en-US" altLang="zh-CN" sz="1100"/>
                    </a:p>
                  </a:txBody>
                  <a:tcPr marL="0" marR="0" marT="0" marB="0" anchor="ctr" anchorCtr="0"/>
                </a:tc>
                <a:tc>
                  <a:txBody>
                    <a:bodyPr/>
                    <a:p>
                      <a:pPr algn="ctr"/>
                      <a:r>
                        <a:rPr lang="en-US" altLang="zh-CN" sz="1100"/>
                        <a:t>Guangshuai Gao et al.</a:t>
                      </a:r>
                      <a:endParaRPr lang="en-US" altLang="zh-CN" sz="1100"/>
                    </a:p>
                  </a:txBody>
                  <a:tcPr marL="0" marR="0" marT="0" marB="0" anchor="ctr" anchorCtr="0"/>
                </a:tc>
                <a:tc>
                  <a:txBody>
                    <a:bodyPr/>
                    <a:p>
                      <a:pPr algn="ctr"/>
                      <a:r>
                        <a:rPr lang="en-US" altLang="zh-CN" sz="1100"/>
                        <a:t>Deep Learning Methods for Density Estimation and Crowd Counting</a:t>
                      </a:r>
                      <a:endParaRPr lang="en-US" altLang="zh-CN" sz="1100"/>
                    </a:p>
                  </a:txBody>
                  <a:tcPr marL="0" marR="0" marT="0" marB="0" anchor="ctr" anchorCtr="0"/>
                </a:tc>
                <a:tc>
                  <a:txBody>
                    <a:bodyPr/>
                    <a:p>
                      <a:pPr algn="ctr"/>
                      <a:r>
                        <a:rPr lang="en-US" altLang="zh-CN" sz="1100"/>
                        <a:t>Density map generation</a:t>
                      </a:r>
                      <a:endParaRPr lang="en-US" altLang="zh-CN" sz="1100"/>
                    </a:p>
                  </a:txBody>
                  <a:tcPr marL="0" marR="0" marT="0" marB="0" anchor="ctr" anchorCtr="0"/>
                </a:tc>
                <a:tc>
                  <a:txBody>
                    <a:bodyPr/>
                    <a:p>
                      <a:pPr algn="ctr"/>
                      <a:r>
                        <a:rPr lang="en-US" altLang="zh-CN" sz="1100"/>
                        <a:t>CNN-based Models</a:t>
                      </a:r>
                      <a:endParaRPr lang="en-US" altLang="zh-CN" sz="1100"/>
                    </a:p>
                  </a:txBody>
                  <a:tcPr marL="0" marR="0" marT="0" marB="0" anchor="ctr" anchorCtr="0"/>
                </a:tc>
                <a:tc>
                  <a:txBody>
                    <a:bodyPr/>
                    <a:p>
                      <a:pPr algn="ctr"/>
                      <a:r>
                        <a:rPr lang="en-US" altLang="zh-CN" sz="1100"/>
                        <a:t>Accurate crowd density estimation (</a:t>
                      </a:r>
                      <a:r>
                        <a:rPr lang="en-US" altLang="zh-CN" sz="1100">
                          <a:hlinkClick r:id="rId5" tooltip="A survey of deep learning methods for density estimation and crowd counting | Vicinagearth | Springer Nature Link"/>
                        </a:rPr>
                        <a:t>Doi.org</a:t>
                      </a:r>
                      <a:r>
                        <a:rPr lang="en-US" altLang="zh-CN" sz="1100"/>
                        <a:t>)</a:t>
                      </a:r>
                      <a:endParaRPr lang="en-US" altLang="zh-CN" sz="1100">
                        <a:hlinkClick r:id="rId5" tooltip="A survey of deep learning methods for density estimation and crowd counting | Vicinagearth | Springer Nature Link"/>
                      </a:endParaRPr>
                    </a:p>
                  </a:txBody>
                  <a:tcPr marL="0" marR="0" marT="0" marB="0" anchor="ctr" anchorCtr="0"/>
                </a:tc>
              </a:tr>
            </a:tbl>
          </a:graphicData>
        </a:graphic>
      </p:graphicFrame>
      <p:pic>
        <p:nvPicPr>
          <p:cNvPr id="6" name="object 6"/>
          <p:cNvPicPr/>
          <p:nvPr/>
        </p:nvPicPr>
        <p:blipFill>
          <a:blip r:embed="rId6" cstate="print"/>
          <a:stretch>
            <a:fillRect/>
          </a:stretch>
        </p:blipFill>
        <p:spPr>
          <a:xfrm>
            <a:off x="407670" y="202565"/>
            <a:ext cx="11617959" cy="10642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7270" y="1904987"/>
            <a:ext cx="10549890" cy="519430"/>
          </a:xfrm>
          <a:prstGeom prst="rect">
            <a:avLst/>
          </a:prstGeom>
        </p:spPr>
        <p:txBody>
          <a:bodyPr vert="horz" wrap="square" lIns="0" tIns="12700" rIns="0" bIns="0" rtlCol="0">
            <a:spAutoFit/>
          </a:bodyPr>
          <a:lstStyle/>
          <a:p>
            <a:pPr marL="3665220">
              <a:lnSpc>
                <a:spcPct val="100000"/>
              </a:lnSpc>
              <a:spcBef>
                <a:spcPts val="100"/>
              </a:spcBef>
            </a:pPr>
            <a:r>
              <a:rPr b="0" dirty="0">
                <a:latin typeface="Times New Roman" panose="02020603050405020304"/>
                <a:cs typeface="Times New Roman" panose="02020603050405020304"/>
              </a:rPr>
              <a:t>Problem</a:t>
            </a:r>
            <a:r>
              <a:rPr b="0" spc="-170" dirty="0">
                <a:latin typeface="Times New Roman" panose="02020603050405020304"/>
                <a:cs typeface="Times New Roman" panose="02020603050405020304"/>
              </a:rPr>
              <a:t> </a:t>
            </a:r>
            <a:r>
              <a:rPr b="0" spc="-10" dirty="0">
                <a:latin typeface="Times New Roman" panose="02020603050405020304"/>
                <a:cs typeface="Times New Roman" panose="02020603050405020304"/>
              </a:rPr>
              <a:t>Statement</a:t>
            </a:r>
            <a:endParaRPr b="0" spc="-10" dirty="0">
              <a:latin typeface="Times New Roman" panose="02020603050405020304"/>
              <a:cs typeface="Times New Roman" panose="02020603050405020304"/>
            </a:endParaRPr>
          </a:p>
        </p:txBody>
      </p:sp>
      <p:sp>
        <p:nvSpPr>
          <p:cNvPr id="3" name="object 3"/>
          <p:cNvSpPr txBox="1"/>
          <p:nvPr/>
        </p:nvSpPr>
        <p:spPr>
          <a:xfrm>
            <a:off x="396029" y="2590601"/>
            <a:ext cx="10835005" cy="3431540"/>
          </a:xfrm>
          <a:prstGeom prst="rect">
            <a:avLst/>
          </a:prstGeom>
        </p:spPr>
        <p:txBody>
          <a:bodyPr vert="horz" wrap="square" lIns="0" tIns="12700" rIns="0" bIns="0" rtlCol="0">
            <a:spAutoFit/>
          </a:bodyPr>
          <a:lstStyle/>
          <a:p>
            <a:pPr marL="264160" indent="-251460">
              <a:lnSpc>
                <a:spcPct val="100000"/>
              </a:lnSpc>
              <a:spcBef>
                <a:spcPts val="100"/>
              </a:spcBef>
              <a:buFont typeface="Arial MT"/>
              <a:buChar char="●"/>
              <a:tabLst>
                <a:tab pos="264160" algn="l"/>
              </a:tabLst>
            </a:pPr>
            <a:r>
              <a:rPr sz="1800" dirty="0">
                <a:solidFill>
                  <a:srgbClr val="595959"/>
                </a:solidFill>
                <a:latin typeface="Times New Roman" panose="02020603050405020304"/>
                <a:cs typeface="Times New Roman" panose="02020603050405020304"/>
              </a:rPr>
              <a:t>Manual</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monitoring</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CCTV</a:t>
            </a:r>
            <a:r>
              <a:rPr sz="1800" spc="-7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cameras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is</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time-</a:t>
            </a:r>
            <a:r>
              <a:rPr sz="1800" dirty="0">
                <a:solidFill>
                  <a:srgbClr val="595959"/>
                </a:solidFill>
                <a:latin typeface="Times New Roman" panose="02020603050405020304"/>
                <a:cs typeface="Times New Roman" panose="02020603050405020304"/>
              </a:rPr>
              <a:t>consuming</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prone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human</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error.</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dirty="0">
                <a:solidFill>
                  <a:srgbClr val="595959"/>
                </a:solidFill>
                <a:latin typeface="Times New Roman" panose="02020603050405020304"/>
                <a:cs typeface="Times New Roman" panose="02020603050405020304"/>
              </a:rPr>
              <a:t>Existing</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surveillance</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struggle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accurately</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estimate</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density</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highly</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crowded</a:t>
            </a:r>
            <a:r>
              <a:rPr sz="1800" spc="-3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environments.</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Delayed</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detection</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abnormal</a:t>
            </a:r>
            <a:r>
              <a:rPr sz="1800" spc="-5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behavior</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can</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lead</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accidents,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stampedes,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security</a:t>
            </a:r>
            <a:r>
              <a:rPr sz="1800" spc="-5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threats.</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spc="-10" dirty="0">
                <a:solidFill>
                  <a:srgbClr val="595959"/>
                </a:solidFill>
                <a:latin typeface="Times New Roman" panose="02020603050405020304"/>
                <a:cs typeface="Times New Roman" panose="02020603050405020304"/>
              </a:rPr>
              <a:t>Traditional</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methods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often</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fail</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under</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poor</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lighting,</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occlusions,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complex</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movements.</a:t>
            </a:r>
            <a:endParaRPr sz="1800">
              <a:latin typeface="Times New Roman" panose="02020603050405020304"/>
              <a:cs typeface="Times New Roman" panose="02020603050405020304"/>
            </a:endParaRPr>
          </a:p>
          <a:p>
            <a:pPr marL="263525" marR="5080" indent="-251460">
              <a:lnSpc>
                <a:spcPct val="130000"/>
              </a:lnSpc>
              <a:spcBef>
                <a:spcPts val="1000"/>
              </a:spcBef>
              <a:buFont typeface="Arial MT"/>
              <a:buChar char="●"/>
              <a:tabLst>
                <a:tab pos="264795" algn="l"/>
              </a:tabLst>
            </a:pPr>
            <a:r>
              <a:rPr sz="1800" dirty="0">
                <a:solidFill>
                  <a:srgbClr val="595959"/>
                </a:solidFill>
                <a:latin typeface="Times New Roman" panose="02020603050405020304"/>
                <a:cs typeface="Times New Roman" panose="02020603050405020304"/>
              </a:rPr>
              <a:t>There</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is</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need</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for</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intelligent</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that</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can</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automatically</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estimate</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density</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detect</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anomalies</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25" dirty="0">
                <a:solidFill>
                  <a:srgbClr val="595959"/>
                </a:solidFill>
                <a:latin typeface="Times New Roman" panose="02020603050405020304"/>
                <a:cs typeface="Times New Roman" panose="02020603050405020304"/>
              </a:rPr>
              <a:t> </a:t>
            </a:r>
            <a:r>
              <a:rPr sz="1800" spc="-20" dirty="0">
                <a:solidFill>
                  <a:srgbClr val="595959"/>
                </a:solidFill>
                <a:latin typeface="Times New Roman" panose="02020603050405020304"/>
                <a:cs typeface="Times New Roman" panose="02020603050405020304"/>
              </a:rPr>
              <a:t>real </a:t>
            </a:r>
            <a:r>
              <a:rPr sz="1800" spc="-2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time.</a:t>
            </a:r>
            <a:endParaRPr sz="1800">
              <a:latin typeface="Times New Roman" panose="02020603050405020304"/>
              <a:cs typeface="Times New Roman" panose="02020603050405020304"/>
            </a:endParaRPr>
          </a:p>
          <a:p>
            <a:pPr marL="263525" marR="5080" indent="-251460">
              <a:lnSpc>
                <a:spcPct val="130000"/>
              </a:lnSpc>
              <a:spcBef>
                <a:spcPts val="1005"/>
              </a:spcBef>
              <a:buFont typeface="Arial MT"/>
              <a:buChar char="●"/>
              <a:tabLst>
                <a:tab pos="264795" algn="l"/>
              </a:tabLst>
            </a:pPr>
            <a:r>
              <a:rPr sz="1800" dirty="0">
                <a:solidFill>
                  <a:srgbClr val="595959"/>
                </a:solidFill>
                <a:latin typeface="Times New Roman" panose="02020603050405020304"/>
                <a:cs typeface="Times New Roman" panose="02020603050405020304"/>
              </a:rPr>
              <a:t>The</a:t>
            </a:r>
            <a:r>
              <a:rPr sz="1800" spc="36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proposed</a:t>
            </a:r>
            <a:r>
              <a:rPr sz="1800" spc="37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a:t>
            </a:r>
            <a:r>
              <a:rPr sz="1800" spc="36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uses</a:t>
            </a:r>
            <a:r>
              <a:rPr sz="1800" spc="37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OpenCV</a:t>
            </a:r>
            <a:r>
              <a:rPr sz="1800" spc="3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37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Radial</a:t>
            </a:r>
            <a:r>
              <a:rPr sz="1800" spc="36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Basis</a:t>
            </a:r>
            <a:r>
              <a:rPr sz="1800" spc="37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Function</a:t>
            </a:r>
            <a:r>
              <a:rPr sz="1800" spc="37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Network</a:t>
            </a:r>
            <a:r>
              <a:rPr sz="1800" spc="37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(RBFN)</a:t>
            </a:r>
            <a:r>
              <a:rPr sz="1800" spc="37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37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provide</a:t>
            </a:r>
            <a:r>
              <a:rPr sz="1800" spc="36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accurate</a:t>
            </a:r>
            <a:r>
              <a:rPr sz="1800" spc="37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crowd </a:t>
            </a:r>
            <a:r>
              <a:rPr sz="1800" spc="-1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monitoring</a:t>
            </a:r>
            <a:r>
              <a:rPr sz="1800" spc="-5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instant</a:t>
            </a:r>
            <a:r>
              <a:rPr sz="1800" spc="-5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alert</a:t>
            </a:r>
            <a:r>
              <a:rPr sz="1800" spc="-5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generation.</a:t>
            </a:r>
            <a:endParaRPr sz="18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70" y="1676387"/>
            <a:ext cx="10549890" cy="519430"/>
          </a:xfrm>
          <a:prstGeom prst="rect">
            <a:avLst/>
          </a:prstGeom>
        </p:spPr>
        <p:txBody>
          <a:bodyPr vert="horz" wrap="square" lIns="0" tIns="12700" rIns="0" bIns="0" rtlCol="0">
            <a:spAutoFit/>
          </a:bodyPr>
          <a:lstStyle/>
          <a:p>
            <a:pPr marL="3785235">
              <a:lnSpc>
                <a:spcPct val="100000"/>
              </a:lnSpc>
              <a:spcBef>
                <a:spcPts val="100"/>
              </a:spcBef>
            </a:pPr>
            <a:r>
              <a:rPr b="0" dirty="0">
                <a:latin typeface="Arial MT"/>
                <a:cs typeface="Arial MT"/>
              </a:rPr>
              <a:t>Existing</a:t>
            </a:r>
            <a:r>
              <a:rPr b="0" spc="-40" dirty="0">
                <a:latin typeface="Arial MT"/>
                <a:cs typeface="Arial MT"/>
              </a:rPr>
              <a:t> </a:t>
            </a:r>
            <a:r>
              <a:rPr b="0" spc="-10" dirty="0">
                <a:latin typeface="Arial MT"/>
                <a:cs typeface="Arial MT"/>
              </a:rPr>
              <a:t>System</a:t>
            </a:r>
            <a:endParaRPr b="0" spc="-10" dirty="0">
              <a:latin typeface="Arial MT"/>
              <a:cs typeface="Arial MT"/>
            </a:endParaRPr>
          </a:p>
        </p:txBody>
      </p:sp>
      <p:sp>
        <p:nvSpPr>
          <p:cNvPr id="3" name="object 3"/>
          <p:cNvSpPr txBox="1"/>
          <p:nvPr/>
        </p:nvSpPr>
        <p:spPr>
          <a:xfrm>
            <a:off x="609389" y="2819201"/>
            <a:ext cx="9721215" cy="2717800"/>
          </a:xfrm>
          <a:prstGeom prst="rect">
            <a:avLst/>
          </a:prstGeom>
        </p:spPr>
        <p:txBody>
          <a:bodyPr vert="horz" wrap="square" lIns="0" tIns="12700" rIns="0" bIns="0" rtlCol="0">
            <a:spAutoFit/>
          </a:bodyPr>
          <a:lstStyle/>
          <a:p>
            <a:pPr marL="264160" indent="-251460">
              <a:lnSpc>
                <a:spcPct val="100000"/>
              </a:lnSpc>
              <a:spcBef>
                <a:spcPts val="100"/>
              </a:spcBef>
              <a:buFont typeface="Arial MT"/>
              <a:buChar char="●"/>
              <a:tabLst>
                <a:tab pos="264160" algn="l"/>
              </a:tabLst>
            </a:pPr>
            <a:r>
              <a:rPr sz="1800" spc="-10" dirty="0">
                <a:solidFill>
                  <a:srgbClr val="595959"/>
                </a:solidFill>
                <a:latin typeface="Times New Roman" panose="02020603050405020304"/>
                <a:cs typeface="Times New Roman" panose="02020603050405020304"/>
              </a:rPr>
              <a:t>Raditional</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monitoring</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mainly</a:t>
            </a:r>
            <a:r>
              <a:rPr sz="1800" spc="-2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rely</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on</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manual</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CCTV</a:t>
            </a:r>
            <a:r>
              <a:rPr sz="1800" spc="-6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surveillance</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by</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security</a:t>
            </a:r>
            <a:r>
              <a:rPr sz="1800" spc="-2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personnel.</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dirty="0">
                <a:solidFill>
                  <a:srgbClr val="595959"/>
                </a:solidFill>
                <a:latin typeface="Times New Roman" panose="02020603050405020304"/>
                <a:cs typeface="Times New Roman" panose="02020603050405020304"/>
              </a:rPr>
              <a:t>Computer</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vision</a:t>
            </a:r>
            <a:r>
              <a:rPr sz="1800" spc="-3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techniques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such</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Haar</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Cascade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HOG</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are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used</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for</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basic</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human</a:t>
            </a:r>
            <a:r>
              <a:rPr sz="1800" spc="-3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detection.</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Deep</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learning</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models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like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CNN</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are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used</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for</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counting</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density</a:t>
            </a:r>
            <a:r>
              <a:rPr sz="1800" spc="-3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estimation.</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dirty="0">
                <a:solidFill>
                  <a:srgbClr val="595959"/>
                </a:solidFill>
                <a:latin typeface="Times New Roman" panose="02020603050405020304"/>
                <a:cs typeface="Times New Roman" panose="02020603050405020304"/>
              </a:rPr>
              <a:t>Most</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existing</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require</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high</a:t>
            </a:r>
            <a:r>
              <a:rPr sz="1800" spc="-3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computational</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resources</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powerful</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hardware.</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Detection</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accuracy</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decreases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dense</a:t>
            </a:r>
            <a:r>
              <a:rPr sz="1800" spc="-5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due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occlusion</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overlapping</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people.</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Many</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systems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are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unable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detect</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abnormal</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behavior</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real</a:t>
            </a:r>
            <a:r>
              <a:rPr sz="1800" spc="-5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time.</a:t>
            </a:r>
            <a:endParaRPr sz="18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70" y="1447787"/>
            <a:ext cx="10549890" cy="519430"/>
          </a:xfrm>
          <a:prstGeom prst="rect">
            <a:avLst/>
          </a:prstGeom>
        </p:spPr>
        <p:txBody>
          <a:bodyPr vert="horz" wrap="square" lIns="0" tIns="12700" rIns="0" bIns="0" rtlCol="0">
            <a:spAutoFit/>
          </a:bodyPr>
          <a:lstStyle/>
          <a:p>
            <a:pPr marL="3745230">
              <a:lnSpc>
                <a:spcPct val="100000"/>
              </a:lnSpc>
              <a:spcBef>
                <a:spcPts val="100"/>
              </a:spcBef>
            </a:pPr>
            <a:r>
              <a:rPr dirty="0"/>
              <a:t>Proposed</a:t>
            </a:r>
            <a:r>
              <a:rPr spc="-145" dirty="0"/>
              <a:t> </a:t>
            </a:r>
            <a:r>
              <a:rPr spc="-10" dirty="0"/>
              <a:t>System</a:t>
            </a:r>
            <a:endParaRPr spc="-10" dirty="0"/>
          </a:p>
        </p:txBody>
      </p:sp>
      <p:sp>
        <p:nvSpPr>
          <p:cNvPr id="3" name="object 3"/>
          <p:cNvSpPr txBox="1"/>
          <p:nvPr/>
        </p:nvSpPr>
        <p:spPr>
          <a:xfrm>
            <a:off x="609389" y="2590601"/>
            <a:ext cx="10586085" cy="2453640"/>
          </a:xfrm>
          <a:prstGeom prst="rect">
            <a:avLst/>
          </a:prstGeom>
        </p:spPr>
        <p:txBody>
          <a:bodyPr vert="horz" wrap="square" lIns="0" tIns="12700" rIns="0" bIns="0" rtlCol="0">
            <a:spAutoFit/>
          </a:bodyPr>
          <a:lstStyle/>
          <a:p>
            <a:pPr marL="264160" indent="-251460">
              <a:lnSpc>
                <a:spcPct val="100000"/>
              </a:lnSpc>
              <a:spcBef>
                <a:spcPts val="100"/>
              </a:spcBef>
              <a:buFont typeface="Arial MT"/>
              <a:buChar char="●"/>
              <a:tabLst>
                <a:tab pos="264160" algn="l"/>
              </a:tabLst>
            </a:pPr>
            <a:r>
              <a:rPr sz="1800" dirty="0">
                <a:latin typeface="Times New Roman" panose="02020603050405020304"/>
                <a:cs typeface="Times New Roman" panose="02020603050405020304"/>
              </a:rPr>
              <a:t>he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proposed</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system</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uses</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OpenCV</a:t>
            </a:r>
            <a:r>
              <a:rPr sz="1800" spc="-6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Radial</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Basis</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Function</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Network</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(RBFN)</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3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intelligent</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crowd</a:t>
            </a:r>
            <a:r>
              <a:rPr sz="1800" spc="-3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monitoring.</a:t>
            </a:r>
            <a:endParaRPr sz="1800">
              <a:latin typeface="Times New Roman" panose="02020603050405020304"/>
              <a:cs typeface="Times New Roman" panose="02020603050405020304"/>
            </a:endParaRPr>
          </a:p>
          <a:p>
            <a:pPr marL="264160" indent="-251460">
              <a:lnSpc>
                <a:spcPct val="100000"/>
              </a:lnSpc>
              <a:spcBef>
                <a:spcPts val="1430"/>
              </a:spcBef>
              <a:buFont typeface="Arial MT"/>
              <a:buChar char="●"/>
              <a:tabLst>
                <a:tab pos="264160" algn="l"/>
              </a:tabLst>
            </a:pPr>
            <a:r>
              <a:rPr sz="1800" dirty="0">
                <a:latin typeface="Times New Roman" panose="02020603050405020304"/>
                <a:cs typeface="Times New Roman" panose="02020603050405020304"/>
              </a:rPr>
              <a:t>It</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captures</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live</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CCTV</a:t>
            </a:r>
            <a:r>
              <a:rPr sz="1800" spc="-70" dirty="0">
                <a:latin typeface="Times New Roman" panose="02020603050405020304"/>
                <a:cs typeface="Times New Roman" panose="02020603050405020304"/>
              </a:rPr>
              <a:t> </a:t>
            </a:r>
            <a:r>
              <a:rPr sz="1800" dirty="0">
                <a:latin typeface="Times New Roman" panose="02020603050405020304"/>
                <a:cs typeface="Times New Roman" panose="02020603050405020304"/>
              </a:rPr>
              <a:t>or</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recorded</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video</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4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preprocesses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frames</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4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analysis.</a:t>
            </a:r>
            <a:endParaRPr sz="1800">
              <a:latin typeface="Times New Roman" panose="02020603050405020304"/>
              <a:cs typeface="Times New Roman" panose="02020603050405020304"/>
            </a:endParaRPr>
          </a:p>
          <a:p>
            <a:pPr marL="264160" indent="-251460">
              <a:lnSpc>
                <a:spcPct val="100000"/>
              </a:lnSpc>
              <a:spcBef>
                <a:spcPts val="1430"/>
              </a:spcBef>
              <a:buFont typeface="Arial MT"/>
              <a:buChar char="●"/>
              <a:tabLst>
                <a:tab pos="264160" algn="l"/>
              </a:tabLst>
            </a:pPr>
            <a:r>
              <a:rPr sz="1800" dirty="0">
                <a:latin typeface="Times New Roman" panose="02020603050405020304"/>
                <a:cs typeface="Times New Roman" panose="02020603050405020304"/>
              </a:rPr>
              <a:t>Human</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detection</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feature</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extraction</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performed</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using</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computer</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vision</a:t>
            </a:r>
            <a:r>
              <a:rPr sz="1800" spc="-5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techniques.</a:t>
            </a:r>
            <a:endParaRPr sz="1800">
              <a:latin typeface="Times New Roman" panose="02020603050405020304"/>
              <a:cs typeface="Times New Roman" panose="02020603050405020304"/>
            </a:endParaRPr>
          </a:p>
          <a:p>
            <a:pPr marL="264160" indent="-251460">
              <a:lnSpc>
                <a:spcPct val="100000"/>
              </a:lnSpc>
              <a:spcBef>
                <a:spcPts val="1435"/>
              </a:spcBef>
              <a:buFont typeface="Arial MT"/>
              <a:buChar char="●"/>
              <a:tabLst>
                <a:tab pos="264160" algn="l"/>
              </a:tabLst>
            </a:pPr>
            <a:r>
              <a:rPr sz="1800" dirty="0">
                <a:latin typeface="Times New Roman" panose="02020603050405020304"/>
                <a:cs typeface="Times New Roman" panose="02020603050405020304"/>
              </a:rPr>
              <a:t>The</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RBFN</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model</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estimates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crowd</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density</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classifies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it</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into</a:t>
            </a:r>
            <a:r>
              <a:rPr sz="1800" spc="-3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Low,</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Medium,</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High</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levels.</a:t>
            </a:r>
            <a:endParaRPr sz="1800">
              <a:latin typeface="Times New Roman" panose="02020603050405020304"/>
              <a:cs typeface="Times New Roman" panose="02020603050405020304"/>
            </a:endParaRPr>
          </a:p>
          <a:p>
            <a:pPr marL="263525" marR="102870" indent="-251460">
              <a:lnSpc>
                <a:spcPct val="120000"/>
              </a:lnSpc>
              <a:spcBef>
                <a:spcPts val="1000"/>
              </a:spcBef>
              <a:buFont typeface="Arial MT"/>
              <a:buChar char="●"/>
              <a:tabLst>
                <a:tab pos="264795" algn="l"/>
              </a:tabLst>
            </a:pPr>
            <a:r>
              <a:rPr sz="1800" dirty="0">
                <a:latin typeface="Times New Roman" panose="02020603050405020304"/>
                <a:cs typeface="Times New Roman" panose="02020603050405020304"/>
              </a:rPr>
              <a:t>The</a:t>
            </a:r>
            <a:r>
              <a:rPr sz="1800" spc="-60" dirty="0">
                <a:latin typeface="Times New Roman" panose="02020603050405020304"/>
                <a:cs typeface="Times New Roman" panose="02020603050405020304"/>
              </a:rPr>
              <a:t> </a:t>
            </a:r>
            <a:r>
              <a:rPr sz="1800" dirty="0">
                <a:latin typeface="Times New Roman" panose="02020603050405020304"/>
                <a:cs typeface="Times New Roman" panose="02020603050405020304"/>
              </a:rPr>
              <a:t>system</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continuously</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detects</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abnormal</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crowd</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behavior</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such</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overcrowding,</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panic</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movement,</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5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sudden 	gatherings.</a:t>
            </a:r>
            <a:endParaRPr sz="18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639060">
              <a:lnSpc>
                <a:spcPct val="100000"/>
              </a:lnSpc>
              <a:spcBef>
                <a:spcPts val="100"/>
              </a:spcBef>
            </a:pPr>
            <a:r>
              <a:rPr dirty="0"/>
              <a:t>Overall</a:t>
            </a:r>
            <a:r>
              <a:rPr spc="-140" dirty="0"/>
              <a:t> </a:t>
            </a:r>
            <a:r>
              <a:rPr spc="-20" dirty="0"/>
              <a:t>System</a:t>
            </a:r>
            <a:r>
              <a:rPr spc="-204" dirty="0"/>
              <a:t> </a:t>
            </a:r>
            <a:r>
              <a:rPr spc="-10" dirty="0"/>
              <a:t>Architecture</a:t>
            </a:r>
            <a:endParaRPr spc="-10" dirty="0"/>
          </a:p>
        </p:txBody>
      </p:sp>
      <p:sp>
        <p:nvSpPr>
          <p:cNvPr id="3" name="object 3"/>
          <p:cNvSpPr txBox="1"/>
          <p:nvPr/>
        </p:nvSpPr>
        <p:spPr>
          <a:xfrm>
            <a:off x="1908356" y="1435100"/>
            <a:ext cx="8368030" cy="254000"/>
          </a:xfrm>
          <a:prstGeom prst="rect">
            <a:avLst/>
          </a:prstGeom>
        </p:spPr>
        <p:txBody>
          <a:bodyPr vert="horz" wrap="square" lIns="0" tIns="12700" rIns="0" bIns="0" rtlCol="0">
            <a:spAutoFit/>
          </a:bodyPr>
          <a:lstStyle/>
          <a:p>
            <a:pPr marL="12700">
              <a:lnSpc>
                <a:spcPct val="100000"/>
              </a:lnSpc>
              <a:spcBef>
                <a:spcPts val="100"/>
              </a:spcBef>
            </a:pPr>
            <a:r>
              <a:rPr sz="1500" i="1" dirty="0">
                <a:solidFill>
                  <a:srgbClr val="404040"/>
                </a:solidFill>
                <a:latin typeface="Times New Roman" panose="02020603050405020304"/>
                <a:cs typeface="Times New Roman" panose="02020603050405020304"/>
              </a:rPr>
              <a:t>End-to-end</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pipeline:</a:t>
            </a:r>
            <a:r>
              <a:rPr sz="1500" i="1" spc="-15"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from</a:t>
            </a:r>
            <a:r>
              <a:rPr sz="1500" i="1" spc="-25"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live</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video</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capture</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to</a:t>
            </a:r>
            <a:r>
              <a:rPr sz="1500" i="1" spc="-20" dirty="0">
                <a:solidFill>
                  <a:srgbClr val="404040"/>
                </a:solidFill>
                <a:latin typeface="Times New Roman" panose="02020603050405020304"/>
                <a:cs typeface="Times New Roman" panose="02020603050405020304"/>
              </a:rPr>
              <a:t> </a:t>
            </a:r>
            <a:r>
              <a:rPr sz="1500" i="1" spc="-25" dirty="0">
                <a:solidFill>
                  <a:srgbClr val="404040"/>
                </a:solidFill>
                <a:latin typeface="Times New Roman" panose="02020603050405020304"/>
                <a:cs typeface="Times New Roman" panose="02020603050405020304"/>
              </a:rPr>
              <a:t>real-</a:t>
            </a:r>
            <a:r>
              <a:rPr sz="1500" i="1" dirty="0">
                <a:solidFill>
                  <a:srgbClr val="404040"/>
                </a:solidFill>
                <a:latin typeface="Times New Roman" panose="02020603050405020304"/>
                <a:cs typeface="Times New Roman" panose="02020603050405020304"/>
              </a:rPr>
              <a:t>time</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density</a:t>
            </a:r>
            <a:r>
              <a:rPr sz="1500" i="1" spc="-25"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classification,</a:t>
            </a:r>
            <a:r>
              <a:rPr sz="1500" i="1" spc="-15"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anomaly</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alerts,</a:t>
            </a:r>
            <a:r>
              <a:rPr sz="1500" i="1" spc="-20" dirty="0">
                <a:solidFill>
                  <a:srgbClr val="404040"/>
                </a:solidFill>
                <a:latin typeface="Times New Roman" panose="02020603050405020304"/>
                <a:cs typeface="Times New Roman" panose="02020603050405020304"/>
              </a:rPr>
              <a:t> </a:t>
            </a:r>
            <a:r>
              <a:rPr sz="1500" i="1" dirty="0">
                <a:solidFill>
                  <a:srgbClr val="404040"/>
                </a:solidFill>
                <a:latin typeface="Times New Roman" panose="02020603050405020304"/>
                <a:cs typeface="Times New Roman" panose="02020603050405020304"/>
              </a:rPr>
              <a:t>and</a:t>
            </a:r>
            <a:r>
              <a:rPr sz="1500" i="1" spc="-15" dirty="0">
                <a:solidFill>
                  <a:srgbClr val="404040"/>
                </a:solidFill>
                <a:latin typeface="Times New Roman" panose="02020603050405020304"/>
                <a:cs typeface="Times New Roman" panose="02020603050405020304"/>
              </a:rPr>
              <a:t> </a:t>
            </a:r>
            <a:r>
              <a:rPr sz="1500" i="1" spc="-10" dirty="0">
                <a:solidFill>
                  <a:srgbClr val="404040"/>
                </a:solidFill>
                <a:latin typeface="Times New Roman" panose="02020603050405020304"/>
                <a:cs typeface="Times New Roman" panose="02020603050405020304"/>
              </a:rPr>
              <a:t>reporting</a:t>
            </a:r>
            <a:endParaRPr sz="1500">
              <a:latin typeface="Times New Roman" panose="02020603050405020304"/>
              <a:cs typeface="Times New Roman" panose="02020603050405020304"/>
            </a:endParaRPr>
          </a:p>
        </p:txBody>
      </p:sp>
      <p:grpSp>
        <p:nvGrpSpPr>
          <p:cNvPr id="4" name="object 4"/>
          <p:cNvGrpSpPr/>
          <p:nvPr/>
        </p:nvGrpSpPr>
        <p:grpSpPr>
          <a:xfrm>
            <a:off x="1220533" y="2144077"/>
            <a:ext cx="2204085" cy="1061085"/>
            <a:chOff x="1220533" y="2144077"/>
            <a:chExt cx="2204085" cy="1061085"/>
          </a:xfrm>
        </p:grpSpPr>
        <p:sp>
          <p:nvSpPr>
            <p:cNvPr id="5" name="object 5"/>
            <p:cNvSpPr/>
            <p:nvPr/>
          </p:nvSpPr>
          <p:spPr>
            <a:xfrm>
              <a:off x="1225296" y="2148839"/>
              <a:ext cx="2194560" cy="1051560"/>
            </a:xfrm>
            <a:custGeom>
              <a:avLst/>
              <a:gdLst/>
              <a:ahLst/>
              <a:cxnLst/>
              <a:rect l="l" t="t" r="r" b="b"/>
              <a:pathLst>
                <a:path w="2194560" h="1051560">
                  <a:moveTo>
                    <a:pt x="2019296"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019296" y="0"/>
                  </a:lnTo>
                  <a:lnTo>
                    <a:pt x="2086367" y="13341"/>
                  </a:lnTo>
                  <a:lnTo>
                    <a:pt x="2143226" y="51333"/>
                  </a:lnTo>
                  <a:lnTo>
                    <a:pt x="2181218" y="108193"/>
                  </a:lnTo>
                  <a:lnTo>
                    <a:pt x="2194559" y="175263"/>
                  </a:lnTo>
                  <a:lnTo>
                    <a:pt x="2194559" y="876296"/>
                  </a:lnTo>
                  <a:lnTo>
                    <a:pt x="2188299" y="922888"/>
                  </a:lnTo>
                  <a:lnTo>
                    <a:pt x="2170631" y="964755"/>
                  </a:lnTo>
                  <a:lnTo>
                    <a:pt x="2143226" y="1000226"/>
                  </a:lnTo>
                  <a:lnTo>
                    <a:pt x="2107755" y="1027631"/>
                  </a:lnTo>
                  <a:lnTo>
                    <a:pt x="2065888" y="1045299"/>
                  </a:lnTo>
                  <a:lnTo>
                    <a:pt x="2019296" y="1051559"/>
                  </a:lnTo>
                  <a:close/>
                </a:path>
              </a:pathLst>
            </a:custGeom>
            <a:solidFill>
              <a:srgbClr val="1F4E78"/>
            </a:solidFill>
          </p:spPr>
          <p:txBody>
            <a:bodyPr wrap="square" lIns="0" tIns="0" rIns="0" bIns="0" rtlCol="0"/>
            <a:lstStyle/>
            <a:p/>
          </p:txBody>
        </p:sp>
        <p:sp>
          <p:nvSpPr>
            <p:cNvPr id="6" name="object 6"/>
            <p:cNvSpPr/>
            <p:nvPr/>
          </p:nvSpPr>
          <p:spPr>
            <a:xfrm>
              <a:off x="1225296" y="2148839"/>
              <a:ext cx="2194560" cy="1051560"/>
            </a:xfrm>
            <a:custGeom>
              <a:avLst/>
              <a:gdLst/>
              <a:ahLst/>
              <a:cxnLst/>
              <a:rect l="l" t="t" r="r" b="b"/>
              <a:pathLst>
                <a:path w="2194560" h="1051560">
                  <a:moveTo>
                    <a:pt x="0" y="175263"/>
                  </a:moveTo>
                  <a:lnTo>
                    <a:pt x="6260" y="128671"/>
                  </a:lnTo>
                  <a:lnTo>
                    <a:pt x="23928" y="86804"/>
                  </a:lnTo>
                  <a:lnTo>
                    <a:pt x="51333" y="51333"/>
                  </a:lnTo>
                  <a:lnTo>
                    <a:pt x="86804" y="23928"/>
                  </a:lnTo>
                  <a:lnTo>
                    <a:pt x="128671" y="6260"/>
                  </a:lnTo>
                  <a:lnTo>
                    <a:pt x="175263" y="0"/>
                  </a:lnTo>
                  <a:lnTo>
                    <a:pt x="2019296" y="0"/>
                  </a:lnTo>
                  <a:lnTo>
                    <a:pt x="2086367" y="13341"/>
                  </a:lnTo>
                  <a:lnTo>
                    <a:pt x="2143226" y="51333"/>
                  </a:lnTo>
                  <a:lnTo>
                    <a:pt x="2181218" y="108193"/>
                  </a:lnTo>
                  <a:lnTo>
                    <a:pt x="2194559" y="175263"/>
                  </a:lnTo>
                  <a:lnTo>
                    <a:pt x="2194559" y="876296"/>
                  </a:lnTo>
                  <a:lnTo>
                    <a:pt x="2188299" y="922888"/>
                  </a:lnTo>
                  <a:lnTo>
                    <a:pt x="2170631" y="964755"/>
                  </a:lnTo>
                  <a:lnTo>
                    <a:pt x="2143226" y="1000226"/>
                  </a:lnTo>
                  <a:lnTo>
                    <a:pt x="2107755" y="1027631"/>
                  </a:lnTo>
                  <a:lnTo>
                    <a:pt x="2065888" y="1045299"/>
                  </a:lnTo>
                  <a:lnTo>
                    <a:pt x="2019296"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1F4E78"/>
              </a:solidFill>
            </a:ln>
          </p:spPr>
          <p:txBody>
            <a:bodyPr wrap="square" lIns="0" tIns="0" rIns="0" bIns="0" rtlCol="0"/>
            <a:lstStyle/>
            <a:p/>
          </p:txBody>
        </p:sp>
      </p:grpSp>
      <p:sp>
        <p:nvSpPr>
          <p:cNvPr id="7" name="object 7"/>
          <p:cNvSpPr txBox="1"/>
          <p:nvPr/>
        </p:nvSpPr>
        <p:spPr>
          <a:xfrm>
            <a:off x="1458264" y="2472436"/>
            <a:ext cx="1729105" cy="392430"/>
          </a:xfrm>
          <a:prstGeom prst="rect">
            <a:avLst/>
          </a:prstGeom>
        </p:spPr>
        <p:txBody>
          <a:bodyPr vert="horz" wrap="square" lIns="0" tIns="12700" rIns="0" bIns="0" rtlCol="0">
            <a:spAutoFit/>
          </a:bodyPr>
          <a:lstStyle/>
          <a:p>
            <a:pPr algn="ctr">
              <a:lnSpc>
                <a:spcPct val="100000"/>
              </a:lnSpc>
              <a:spcBef>
                <a:spcPts val="100"/>
              </a:spcBef>
            </a:pPr>
            <a:r>
              <a:rPr sz="1300" b="1" dirty="0">
                <a:solidFill>
                  <a:srgbClr val="FFFFFF"/>
                </a:solidFill>
                <a:latin typeface="Times New Roman" panose="02020603050405020304"/>
                <a:cs typeface="Times New Roman" panose="02020603050405020304"/>
              </a:rPr>
              <a:t>Video</a:t>
            </a:r>
            <a:r>
              <a:rPr sz="1300" b="1" spc="-75" dirty="0">
                <a:solidFill>
                  <a:srgbClr val="FFFFFF"/>
                </a:solidFill>
                <a:latin typeface="Times New Roman" panose="02020603050405020304"/>
                <a:cs typeface="Times New Roman" panose="02020603050405020304"/>
              </a:rPr>
              <a:t> </a:t>
            </a:r>
            <a:r>
              <a:rPr sz="1300" b="1" spc="-10" dirty="0">
                <a:solidFill>
                  <a:srgbClr val="FFFFFF"/>
                </a:solidFill>
                <a:latin typeface="Times New Roman" panose="02020603050405020304"/>
                <a:cs typeface="Times New Roman" panose="02020603050405020304"/>
              </a:rPr>
              <a:t>Input</a:t>
            </a:r>
            <a:endParaRPr sz="1300">
              <a:latin typeface="Times New Roman" panose="02020603050405020304"/>
              <a:cs typeface="Times New Roman" panose="02020603050405020304"/>
            </a:endParaRPr>
          </a:p>
          <a:p>
            <a:pPr algn="ctr">
              <a:lnSpc>
                <a:spcPct val="100000"/>
              </a:lnSpc>
              <a:spcBef>
                <a:spcPts val="5"/>
              </a:spcBef>
            </a:pPr>
            <a:r>
              <a:rPr sz="1100" dirty="0">
                <a:solidFill>
                  <a:srgbClr val="FFFFFF"/>
                </a:solidFill>
                <a:latin typeface="Times New Roman" panose="02020603050405020304"/>
                <a:cs typeface="Times New Roman" panose="02020603050405020304"/>
              </a:rPr>
              <a:t>(Live</a:t>
            </a:r>
            <a:r>
              <a:rPr sz="1100" spc="-2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CCTV</a:t>
            </a:r>
            <a:r>
              <a:rPr sz="1100" spc="-3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a:t>
            </a:r>
            <a:r>
              <a:rPr sz="1100" spc="-20"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Recorded</a:t>
            </a:r>
            <a:r>
              <a:rPr sz="1100" spc="-15" dirty="0">
                <a:solidFill>
                  <a:srgbClr val="FFFFFF"/>
                </a:solidFill>
                <a:latin typeface="Times New Roman" panose="02020603050405020304"/>
                <a:cs typeface="Times New Roman" panose="02020603050405020304"/>
              </a:rPr>
              <a:t> </a:t>
            </a:r>
            <a:r>
              <a:rPr sz="1100" spc="-10" dirty="0">
                <a:solidFill>
                  <a:srgbClr val="FFFFFF"/>
                </a:solidFill>
                <a:latin typeface="Times New Roman" panose="02020603050405020304"/>
                <a:cs typeface="Times New Roman" panose="02020603050405020304"/>
              </a:rPr>
              <a:t>Feed)</a:t>
            </a:r>
            <a:endParaRPr sz="1100">
              <a:latin typeface="Times New Roman" panose="02020603050405020304"/>
              <a:cs typeface="Times New Roman" panose="02020603050405020304"/>
            </a:endParaRPr>
          </a:p>
        </p:txBody>
      </p:sp>
      <p:grpSp>
        <p:nvGrpSpPr>
          <p:cNvPr id="8" name="object 8"/>
          <p:cNvGrpSpPr/>
          <p:nvPr/>
        </p:nvGrpSpPr>
        <p:grpSpPr>
          <a:xfrm>
            <a:off x="3303968" y="2144077"/>
            <a:ext cx="2635250" cy="1061085"/>
            <a:chOff x="3303968" y="2144077"/>
            <a:chExt cx="2635250" cy="1061085"/>
          </a:xfrm>
        </p:grpSpPr>
        <p:pic>
          <p:nvPicPr>
            <p:cNvPr id="9" name="object 9"/>
            <p:cNvPicPr/>
            <p:nvPr/>
          </p:nvPicPr>
          <p:blipFill>
            <a:blip r:embed="rId1" cstate="print"/>
            <a:stretch>
              <a:fillRect/>
            </a:stretch>
          </p:blipFill>
          <p:spPr>
            <a:xfrm>
              <a:off x="3303968" y="2609532"/>
              <a:ext cx="551815" cy="231775"/>
            </a:xfrm>
            <a:prstGeom prst="rect">
              <a:avLst/>
            </a:prstGeom>
          </p:spPr>
        </p:pic>
        <p:pic>
          <p:nvPicPr>
            <p:cNvPr id="10" name="object 10"/>
            <p:cNvPicPr/>
            <p:nvPr/>
          </p:nvPicPr>
          <p:blipFill>
            <a:blip r:embed="rId2" cstate="print"/>
            <a:stretch>
              <a:fillRect/>
            </a:stretch>
          </p:blipFill>
          <p:spPr>
            <a:xfrm>
              <a:off x="3419855" y="2613134"/>
              <a:ext cx="292553" cy="122971"/>
            </a:xfrm>
            <a:prstGeom prst="rect">
              <a:avLst/>
            </a:prstGeom>
          </p:spPr>
        </p:pic>
        <p:sp>
          <p:nvSpPr>
            <p:cNvPr id="11" name="object 11"/>
            <p:cNvSpPr/>
            <p:nvPr/>
          </p:nvSpPr>
          <p:spPr>
            <a:xfrm>
              <a:off x="3739896" y="2148839"/>
              <a:ext cx="2194560" cy="1051560"/>
            </a:xfrm>
            <a:custGeom>
              <a:avLst/>
              <a:gdLst/>
              <a:ahLst/>
              <a:cxnLst/>
              <a:rect l="l" t="t" r="r" b="b"/>
              <a:pathLst>
                <a:path w="2194560" h="1051560">
                  <a:moveTo>
                    <a:pt x="2019296"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019296" y="0"/>
                  </a:lnTo>
                  <a:lnTo>
                    <a:pt x="2086367" y="13341"/>
                  </a:lnTo>
                  <a:lnTo>
                    <a:pt x="2143226" y="51333"/>
                  </a:lnTo>
                  <a:lnTo>
                    <a:pt x="2181218" y="108193"/>
                  </a:lnTo>
                  <a:lnTo>
                    <a:pt x="2194559" y="175263"/>
                  </a:lnTo>
                  <a:lnTo>
                    <a:pt x="2194559" y="876296"/>
                  </a:lnTo>
                  <a:lnTo>
                    <a:pt x="2188299" y="922888"/>
                  </a:lnTo>
                  <a:lnTo>
                    <a:pt x="2170631" y="964755"/>
                  </a:lnTo>
                  <a:lnTo>
                    <a:pt x="2143226" y="1000226"/>
                  </a:lnTo>
                  <a:lnTo>
                    <a:pt x="2107755" y="1027631"/>
                  </a:lnTo>
                  <a:lnTo>
                    <a:pt x="2065888" y="1045299"/>
                  </a:lnTo>
                  <a:lnTo>
                    <a:pt x="2019296" y="1051559"/>
                  </a:lnTo>
                  <a:close/>
                </a:path>
              </a:pathLst>
            </a:custGeom>
            <a:solidFill>
              <a:srgbClr val="1F4E78"/>
            </a:solidFill>
          </p:spPr>
          <p:txBody>
            <a:bodyPr wrap="square" lIns="0" tIns="0" rIns="0" bIns="0" rtlCol="0"/>
            <a:lstStyle/>
            <a:p/>
          </p:txBody>
        </p:sp>
        <p:sp>
          <p:nvSpPr>
            <p:cNvPr id="12" name="object 12"/>
            <p:cNvSpPr/>
            <p:nvPr/>
          </p:nvSpPr>
          <p:spPr>
            <a:xfrm>
              <a:off x="3739896" y="2148839"/>
              <a:ext cx="2194560" cy="1051560"/>
            </a:xfrm>
            <a:custGeom>
              <a:avLst/>
              <a:gdLst/>
              <a:ahLst/>
              <a:cxnLst/>
              <a:rect l="l" t="t" r="r" b="b"/>
              <a:pathLst>
                <a:path w="2194560" h="1051560">
                  <a:moveTo>
                    <a:pt x="0" y="175263"/>
                  </a:moveTo>
                  <a:lnTo>
                    <a:pt x="6260" y="128671"/>
                  </a:lnTo>
                  <a:lnTo>
                    <a:pt x="23928" y="86804"/>
                  </a:lnTo>
                  <a:lnTo>
                    <a:pt x="51333" y="51333"/>
                  </a:lnTo>
                  <a:lnTo>
                    <a:pt x="86804" y="23928"/>
                  </a:lnTo>
                  <a:lnTo>
                    <a:pt x="128671" y="6260"/>
                  </a:lnTo>
                  <a:lnTo>
                    <a:pt x="175263" y="0"/>
                  </a:lnTo>
                  <a:lnTo>
                    <a:pt x="2019296" y="0"/>
                  </a:lnTo>
                  <a:lnTo>
                    <a:pt x="2086367" y="13341"/>
                  </a:lnTo>
                  <a:lnTo>
                    <a:pt x="2143226" y="51333"/>
                  </a:lnTo>
                  <a:lnTo>
                    <a:pt x="2181218" y="108193"/>
                  </a:lnTo>
                  <a:lnTo>
                    <a:pt x="2194559" y="175263"/>
                  </a:lnTo>
                  <a:lnTo>
                    <a:pt x="2194559" y="876296"/>
                  </a:lnTo>
                  <a:lnTo>
                    <a:pt x="2188299" y="922888"/>
                  </a:lnTo>
                  <a:lnTo>
                    <a:pt x="2170631" y="964755"/>
                  </a:lnTo>
                  <a:lnTo>
                    <a:pt x="2143226" y="1000226"/>
                  </a:lnTo>
                  <a:lnTo>
                    <a:pt x="2107755" y="1027631"/>
                  </a:lnTo>
                  <a:lnTo>
                    <a:pt x="2065888" y="1045299"/>
                  </a:lnTo>
                  <a:lnTo>
                    <a:pt x="2019296"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1F4E78"/>
              </a:solidFill>
            </a:ln>
          </p:spPr>
          <p:txBody>
            <a:bodyPr wrap="square" lIns="0" tIns="0" rIns="0" bIns="0" rtlCol="0"/>
            <a:lstStyle/>
            <a:p/>
          </p:txBody>
        </p:sp>
      </p:grpSp>
      <p:sp>
        <p:nvSpPr>
          <p:cNvPr id="13" name="object 13"/>
          <p:cNvSpPr txBox="1"/>
          <p:nvPr/>
        </p:nvSpPr>
        <p:spPr>
          <a:xfrm>
            <a:off x="4054289" y="2388616"/>
            <a:ext cx="1567180" cy="560070"/>
          </a:xfrm>
          <a:prstGeom prst="rect">
            <a:avLst/>
          </a:prstGeom>
        </p:spPr>
        <p:txBody>
          <a:bodyPr vert="horz" wrap="square" lIns="0" tIns="12700" rIns="0" bIns="0" rtlCol="0">
            <a:spAutoFit/>
          </a:bodyPr>
          <a:lstStyle/>
          <a:p>
            <a:pPr marL="12700" marR="5080" indent="-1270" algn="ctr">
              <a:lnSpc>
                <a:spcPct val="100000"/>
              </a:lnSpc>
              <a:spcBef>
                <a:spcPts val="100"/>
              </a:spcBef>
            </a:pPr>
            <a:r>
              <a:rPr sz="1300" b="1" spc="-10" dirty="0">
                <a:solidFill>
                  <a:srgbClr val="FFFFFF"/>
                </a:solidFill>
                <a:latin typeface="Times New Roman" panose="02020603050405020304"/>
                <a:cs typeface="Times New Roman" panose="02020603050405020304"/>
              </a:rPr>
              <a:t>Preprocessing </a:t>
            </a:r>
            <a:r>
              <a:rPr sz="1100" spc="-20" dirty="0">
                <a:solidFill>
                  <a:srgbClr val="FFFFFF"/>
                </a:solidFill>
                <a:latin typeface="Times New Roman" panose="02020603050405020304"/>
                <a:cs typeface="Times New Roman" panose="02020603050405020304"/>
              </a:rPr>
              <a:t>(OpenCV:</a:t>
            </a:r>
            <a:r>
              <a:rPr sz="1100" spc="-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Denoise,</a:t>
            </a:r>
            <a:r>
              <a:rPr sz="1100" spc="5" dirty="0">
                <a:solidFill>
                  <a:srgbClr val="FFFFFF"/>
                </a:solidFill>
                <a:latin typeface="Times New Roman" panose="02020603050405020304"/>
                <a:cs typeface="Times New Roman" panose="02020603050405020304"/>
              </a:rPr>
              <a:t> </a:t>
            </a:r>
            <a:r>
              <a:rPr sz="1100" spc="-10" dirty="0">
                <a:solidFill>
                  <a:srgbClr val="FFFFFF"/>
                </a:solidFill>
                <a:latin typeface="Times New Roman" panose="02020603050405020304"/>
                <a:cs typeface="Times New Roman" panose="02020603050405020304"/>
              </a:rPr>
              <a:t>Resize, Normalize)</a:t>
            </a:r>
            <a:endParaRPr sz="1100">
              <a:latin typeface="Times New Roman" panose="02020603050405020304"/>
              <a:cs typeface="Times New Roman" panose="02020603050405020304"/>
            </a:endParaRPr>
          </a:p>
        </p:txBody>
      </p:sp>
      <p:grpSp>
        <p:nvGrpSpPr>
          <p:cNvPr id="14" name="object 14"/>
          <p:cNvGrpSpPr/>
          <p:nvPr/>
        </p:nvGrpSpPr>
        <p:grpSpPr>
          <a:xfrm>
            <a:off x="5818568" y="2144077"/>
            <a:ext cx="2635250" cy="1061085"/>
            <a:chOff x="5818568" y="2144077"/>
            <a:chExt cx="2635250" cy="1061085"/>
          </a:xfrm>
        </p:grpSpPr>
        <p:pic>
          <p:nvPicPr>
            <p:cNvPr id="15" name="object 15"/>
            <p:cNvPicPr/>
            <p:nvPr/>
          </p:nvPicPr>
          <p:blipFill>
            <a:blip r:embed="rId1" cstate="print"/>
            <a:stretch>
              <a:fillRect/>
            </a:stretch>
          </p:blipFill>
          <p:spPr>
            <a:xfrm>
              <a:off x="5818568" y="2609532"/>
              <a:ext cx="551815" cy="231775"/>
            </a:xfrm>
            <a:prstGeom prst="rect">
              <a:avLst/>
            </a:prstGeom>
          </p:spPr>
        </p:pic>
        <p:pic>
          <p:nvPicPr>
            <p:cNvPr id="16" name="object 16"/>
            <p:cNvPicPr/>
            <p:nvPr/>
          </p:nvPicPr>
          <p:blipFill>
            <a:blip r:embed="rId2" cstate="print"/>
            <a:stretch>
              <a:fillRect/>
            </a:stretch>
          </p:blipFill>
          <p:spPr>
            <a:xfrm>
              <a:off x="5934455" y="2613134"/>
              <a:ext cx="292553" cy="122971"/>
            </a:xfrm>
            <a:prstGeom prst="rect">
              <a:avLst/>
            </a:prstGeom>
          </p:spPr>
        </p:pic>
        <p:sp>
          <p:nvSpPr>
            <p:cNvPr id="17" name="object 17"/>
            <p:cNvSpPr/>
            <p:nvPr/>
          </p:nvSpPr>
          <p:spPr>
            <a:xfrm>
              <a:off x="6254496" y="2148839"/>
              <a:ext cx="2194560" cy="1051560"/>
            </a:xfrm>
            <a:custGeom>
              <a:avLst/>
              <a:gdLst/>
              <a:ahLst/>
              <a:cxnLst/>
              <a:rect l="l" t="t" r="r" b="b"/>
              <a:pathLst>
                <a:path w="2194559" h="1051560">
                  <a:moveTo>
                    <a:pt x="2019296"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019296" y="0"/>
                  </a:lnTo>
                  <a:lnTo>
                    <a:pt x="2086366" y="13341"/>
                  </a:lnTo>
                  <a:lnTo>
                    <a:pt x="2143226" y="51333"/>
                  </a:lnTo>
                  <a:lnTo>
                    <a:pt x="2181218" y="108193"/>
                  </a:lnTo>
                  <a:lnTo>
                    <a:pt x="2194560" y="175263"/>
                  </a:lnTo>
                  <a:lnTo>
                    <a:pt x="2194560" y="876296"/>
                  </a:lnTo>
                  <a:lnTo>
                    <a:pt x="2188299" y="922888"/>
                  </a:lnTo>
                  <a:lnTo>
                    <a:pt x="2170631" y="964755"/>
                  </a:lnTo>
                  <a:lnTo>
                    <a:pt x="2143226" y="1000226"/>
                  </a:lnTo>
                  <a:lnTo>
                    <a:pt x="2107755" y="1027631"/>
                  </a:lnTo>
                  <a:lnTo>
                    <a:pt x="2065888" y="1045299"/>
                  </a:lnTo>
                  <a:lnTo>
                    <a:pt x="2019296" y="1051559"/>
                  </a:lnTo>
                  <a:close/>
                </a:path>
              </a:pathLst>
            </a:custGeom>
            <a:solidFill>
              <a:srgbClr val="2E75B6"/>
            </a:solidFill>
          </p:spPr>
          <p:txBody>
            <a:bodyPr wrap="square" lIns="0" tIns="0" rIns="0" bIns="0" rtlCol="0"/>
            <a:lstStyle/>
            <a:p/>
          </p:txBody>
        </p:sp>
        <p:sp>
          <p:nvSpPr>
            <p:cNvPr id="18" name="object 18"/>
            <p:cNvSpPr/>
            <p:nvPr/>
          </p:nvSpPr>
          <p:spPr>
            <a:xfrm>
              <a:off x="6254496" y="2148839"/>
              <a:ext cx="2194560" cy="1051560"/>
            </a:xfrm>
            <a:custGeom>
              <a:avLst/>
              <a:gdLst/>
              <a:ahLst/>
              <a:cxnLst/>
              <a:rect l="l" t="t" r="r" b="b"/>
              <a:pathLst>
                <a:path w="2194559" h="1051560">
                  <a:moveTo>
                    <a:pt x="0" y="175263"/>
                  </a:moveTo>
                  <a:lnTo>
                    <a:pt x="6260" y="128671"/>
                  </a:lnTo>
                  <a:lnTo>
                    <a:pt x="23928" y="86804"/>
                  </a:lnTo>
                  <a:lnTo>
                    <a:pt x="51333" y="51333"/>
                  </a:lnTo>
                  <a:lnTo>
                    <a:pt x="86804" y="23928"/>
                  </a:lnTo>
                  <a:lnTo>
                    <a:pt x="128671" y="6260"/>
                  </a:lnTo>
                  <a:lnTo>
                    <a:pt x="175263" y="0"/>
                  </a:lnTo>
                  <a:lnTo>
                    <a:pt x="2019296" y="0"/>
                  </a:lnTo>
                  <a:lnTo>
                    <a:pt x="2086366" y="13341"/>
                  </a:lnTo>
                  <a:lnTo>
                    <a:pt x="2143226" y="51333"/>
                  </a:lnTo>
                  <a:lnTo>
                    <a:pt x="2181218" y="108193"/>
                  </a:lnTo>
                  <a:lnTo>
                    <a:pt x="2194560" y="175263"/>
                  </a:lnTo>
                  <a:lnTo>
                    <a:pt x="2194560" y="876296"/>
                  </a:lnTo>
                  <a:lnTo>
                    <a:pt x="2188299" y="922888"/>
                  </a:lnTo>
                  <a:lnTo>
                    <a:pt x="2170631" y="964755"/>
                  </a:lnTo>
                  <a:lnTo>
                    <a:pt x="2143226" y="1000226"/>
                  </a:lnTo>
                  <a:lnTo>
                    <a:pt x="2107755" y="1027631"/>
                  </a:lnTo>
                  <a:lnTo>
                    <a:pt x="2065888" y="1045299"/>
                  </a:lnTo>
                  <a:lnTo>
                    <a:pt x="2019296"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2E75B6"/>
              </a:solidFill>
            </a:ln>
          </p:spPr>
          <p:txBody>
            <a:bodyPr wrap="square" lIns="0" tIns="0" rIns="0" bIns="0" rtlCol="0"/>
            <a:lstStyle/>
            <a:p/>
          </p:txBody>
        </p:sp>
      </p:grpSp>
      <p:sp>
        <p:nvSpPr>
          <p:cNvPr id="19" name="object 19"/>
          <p:cNvSpPr txBox="1"/>
          <p:nvPr/>
        </p:nvSpPr>
        <p:spPr>
          <a:xfrm>
            <a:off x="6628545" y="2472436"/>
            <a:ext cx="1447165" cy="392430"/>
          </a:xfrm>
          <a:prstGeom prst="rect">
            <a:avLst/>
          </a:prstGeom>
        </p:spPr>
        <p:txBody>
          <a:bodyPr vert="horz" wrap="square" lIns="0" tIns="12700" rIns="0" bIns="0" rtlCol="0">
            <a:spAutoFit/>
          </a:bodyPr>
          <a:lstStyle/>
          <a:p>
            <a:pPr algn="ctr">
              <a:lnSpc>
                <a:spcPct val="100000"/>
              </a:lnSpc>
              <a:spcBef>
                <a:spcPts val="100"/>
              </a:spcBef>
            </a:pPr>
            <a:r>
              <a:rPr sz="1300" b="1" dirty="0">
                <a:solidFill>
                  <a:srgbClr val="FFFFFF"/>
                </a:solidFill>
                <a:latin typeface="Times New Roman" panose="02020603050405020304"/>
                <a:cs typeface="Times New Roman" panose="02020603050405020304"/>
              </a:rPr>
              <a:t>Human</a:t>
            </a:r>
            <a:r>
              <a:rPr sz="1300" b="1" spc="-40" dirty="0">
                <a:solidFill>
                  <a:srgbClr val="FFFFFF"/>
                </a:solidFill>
                <a:latin typeface="Times New Roman" panose="02020603050405020304"/>
                <a:cs typeface="Times New Roman" panose="02020603050405020304"/>
              </a:rPr>
              <a:t> </a:t>
            </a:r>
            <a:r>
              <a:rPr sz="1300" b="1" spc="-10" dirty="0">
                <a:solidFill>
                  <a:srgbClr val="FFFFFF"/>
                </a:solidFill>
                <a:latin typeface="Times New Roman" panose="02020603050405020304"/>
                <a:cs typeface="Times New Roman" panose="02020603050405020304"/>
              </a:rPr>
              <a:t>Detection</a:t>
            </a:r>
            <a:r>
              <a:rPr sz="1300" b="1" spc="-35" dirty="0">
                <a:solidFill>
                  <a:srgbClr val="FFFFFF"/>
                </a:solidFill>
                <a:latin typeface="Times New Roman" panose="02020603050405020304"/>
                <a:cs typeface="Times New Roman" panose="02020603050405020304"/>
              </a:rPr>
              <a:t> </a:t>
            </a:r>
            <a:r>
              <a:rPr sz="1300" b="1" spc="-50" dirty="0">
                <a:solidFill>
                  <a:srgbClr val="FFFFFF"/>
                </a:solidFill>
                <a:latin typeface="Times New Roman" panose="02020603050405020304"/>
                <a:cs typeface="Times New Roman" panose="02020603050405020304"/>
              </a:rPr>
              <a:t>&amp;</a:t>
            </a:r>
            <a:endParaRPr sz="1300">
              <a:latin typeface="Times New Roman" panose="02020603050405020304"/>
              <a:cs typeface="Times New Roman" panose="02020603050405020304"/>
            </a:endParaRPr>
          </a:p>
          <a:p>
            <a:pPr algn="ctr">
              <a:lnSpc>
                <a:spcPct val="100000"/>
              </a:lnSpc>
              <a:spcBef>
                <a:spcPts val="5"/>
              </a:spcBef>
            </a:pPr>
            <a:r>
              <a:rPr sz="1100" dirty="0">
                <a:solidFill>
                  <a:srgbClr val="FFFFFF"/>
                </a:solidFill>
                <a:latin typeface="Times New Roman" panose="02020603050405020304"/>
                <a:cs typeface="Times New Roman" panose="02020603050405020304"/>
              </a:rPr>
              <a:t>Feature</a:t>
            </a:r>
            <a:r>
              <a:rPr sz="1100" spc="-35" dirty="0">
                <a:solidFill>
                  <a:srgbClr val="FFFFFF"/>
                </a:solidFill>
                <a:latin typeface="Times New Roman" panose="02020603050405020304"/>
                <a:cs typeface="Times New Roman" panose="02020603050405020304"/>
              </a:rPr>
              <a:t> </a:t>
            </a:r>
            <a:r>
              <a:rPr sz="1100" spc="-10" dirty="0">
                <a:solidFill>
                  <a:srgbClr val="FFFFFF"/>
                </a:solidFill>
                <a:latin typeface="Times New Roman" panose="02020603050405020304"/>
                <a:cs typeface="Times New Roman" panose="02020603050405020304"/>
              </a:rPr>
              <a:t>Extraction</a:t>
            </a:r>
            <a:endParaRPr sz="1100">
              <a:latin typeface="Times New Roman" panose="02020603050405020304"/>
              <a:cs typeface="Times New Roman" panose="02020603050405020304"/>
            </a:endParaRPr>
          </a:p>
        </p:txBody>
      </p:sp>
      <p:grpSp>
        <p:nvGrpSpPr>
          <p:cNvPr id="20" name="object 20"/>
          <p:cNvGrpSpPr/>
          <p:nvPr/>
        </p:nvGrpSpPr>
        <p:grpSpPr>
          <a:xfrm>
            <a:off x="8333168" y="2144077"/>
            <a:ext cx="2635250" cy="1061085"/>
            <a:chOff x="8333168" y="2144077"/>
            <a:chExt cx="2635250" cy="1061085"/>
          </a:xfrm>
        </p:grpSpPr>
        <p:pic>
          <p:nvPicPr>
            <p:cNvPr id="21" name="object 21"/>
            <p:cNvPicPr/>
            <p:nvPr/>
          </p:nvPicPr>
          <p:blipFill>
            <a:blip r:embed="rId1" cstate="print"/>
            <a:stretch>
              <a:fillRect/>
            </a:stretch>
          </p:blipFill>
          <p:spPr>
            <a:xfrm>
              <a:off x="8333168" y="2609532"/>
              <a:ext cx="551815" cy="231775"/>
            </a:xfrm>
            <a:prstGeom prst="rect">
              <a:avLst/>
            </a:prstGeom>
          </p:spPr>
        </p:pic>
        <p:pic>
          <p:nvPicPr>
            <p:cNvPr id="22" name="object 22"/>
            <p:cNvPicPr/>
            <p:nvPr/>
          </p:nvPicPr>
          <p:blipFill>
            <a:blip r:embed="rId2" cstate="print"/>
            <a:stretch>
              <a:fillRect/>
            </a:stretch>
          </p:blipFill>
          <p:spPr>
            <a:xfrm>
              <a:off x="8449056" y="2613134"/>
              <a:ext cx="292553" cy="122971"/>
            </a:xfrm>
            <a:prstGeom prst="rect">
              <a:avLst/>
            </a:prstGeom>
          </p:spPr>
        </p:pic>
        <p:sp>
          <p:nvSpPr>
            <p:cNvPr id="23" name="object 23"/>
            <p:cNvSpPr/>
            <p:nvPr/>
          </p:nvSpPr>
          <p:spPr>
            <a:xfrm>
              <a:off x="8769095" y="2148839"/>
              <a:ext cx="2194560" cy="1051560"/>
            </a:xfrm>
            <a:custGeom>
              <a:avLst/>
              <a:gdLst/>
              <a:ahLst/>
              <a:cxnLst/>
              <a:rect l="l" t="t" r="r" b="b"/>
              <a:pathLst>
                <a:path w="2194559" h="1051560">
                  <a:moveTo>
                    <a:pt x="2019296"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019296" y="0"/>
                  </a:lnTo>
                  <a:lnTo>
                    <a:pt x="2086366" y="13341"/>
                  </a:lnTo>
                  <a:lnTo>
                    <a:pt x="2143226" y="51333"/>
                  </a:lnTo>
                  <a:lnTo>
                    <a:pt x="2181218" y="108193"/>
                  </a:lnTo>
                  <a:lnTo>
                    <a:pt x="2194560" y="175263"/>
                  </a:lnTo>
                  <a:lnTo>
                    <a:pt x="2194560" y="876296"/>
                  </a:lnTo>
                  <a:lnTo>
                    <a:pt x="2188299" y="922888"/>
                  </a:lnTo>
                  <a:lnTo>
                    <a:pt x="2170631" y="964755"/>
                  </a:lnTo>
                  <a:lnTo>
                    <a:pt x="2143226" y="1000226"/>
                  </a:lnTo>
                  <a:lnTo>
                    <a:pt x="2107755" y="1027631"/>
                  </a:lnTo>
                  <a:lnTo>
                    <a:pt x="2065888" y="1045299"/>
                  </a:lnTo>
                  <a:lnTo>
                    <a:pt x="2019296" y="1051559"/>
                  </a:lnTo>
                  <a:close/>
                </a:path>
              </a:pathLst>
            </a:custGeom>
            <a:solidFill>
              <a:srgbClr val="2E75B6"/>
            </a:solidFill>
          </p:spPr>
          <p:txBody>
            <a:bodyPr wrap="square" lIns="0" tIns="0" rIns="0" bIns="0" rtlCol="0"/>
            <a:lstStyle/>
            <a:p/>
          </p:txBody>
        </p:sp>
        <p:sp>
          <p:nvSpPr>
            <p:cNvPr id="24" name="object 24"/>
            <p:cNvSpPr/>
            <p:nvPr/>
          </p:nvSpPr>
          <p:spPr>
            <a:xfrm>
              <a:off x="8769095" y="2148839"/>
              <a:ext cx="2194560" cy="1051560"/>
            </a:xfrm>
            <a:custGeom>
              <a:avLst/>
              <a:gdLst/>
              <a:ahLst/>
              <a:cxnLst/>
              <a:rect l="l" t="t" r="r" b="b"/>
              <a:pathLst>
                <a:path w="2194559" h="1051560">
                  <a:moveTo>
                    <a:pt x="0" y="175263"/>
                  </a:moveTo>
                  <a:lnTo>
                    <a:pt x="6260" y="128671"/>
                  </a:lnTo>
                  <a:lnTo>
                    <a:pt x="23928" y="86804"/>
                  </a:lnTo>
                  <a:lnTo>
                    <a:pt x="51333" y="51333"/>
                  </a:lnTo>
                  <a:lnTo>
                    <a:pt x="86804" y="23928"/>
                  </a:lnTo>
                  <a:lnTo>
                    <a:pt x="128671" y="6260"/>
                  </a:lnTo>
                  <a:lnTo>
                    <a:pt x="175263" y="0"/>
                  </a:lnTo>
                  <a:lnTo>
                    <a:pt x="2019296" y="0"/>
                  </a:lnTo>
                  <a:lnTo>
                    <a:pt x="2086366" y="13341"/>
                  </a:lnTo>
                  <a:lnTo>
                    <a:pt x="2143226" y="51333"/>
                  </a:lnTo>
                  <a:lnTo>
                    <a:pt x="2181218" y="108193"/>
                  </a:lnTo>
                  <a:lnTo>
                    <a:pt x="2194560" y="175263"/>
                  </a:lnTo>
                  <a:lnTo>
                    <a:pt x="2194560" y="876296"/>
                  </a:lnTo>
                  <a:lnTo>
                    <a:pt x="2188299" y="922888"/>
                  </a:lnTo>
                  <a:lnTo>
                    <a:pt x="2170631" y="964755"/>
                  </a:lnTo>
                  <a:lnTo>
                    <a:pt x="2143226" y="1000226"/>
                  </a:lnTo>
                  <a:lnTo>
                    <a:pt x="2107755" y="1027631"/>
                  </a:lnTo>
                  <a:lnTo>
                    <a:pt x="2065888" y="1045299"/>
                  </a:lnTo>
                  <a:lnTo>
                    <a:pt x="2019296"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2E75B6"/>
              </a:solidFill>
            </a:ln>
          </p:spPr>
          <p:txBody>
            <a:bodyPr wrap="square" lIns="0" tIns="0" rIns="0" bIns="0" rtlCol="0"/>
            <a:lstStyle/>
            <a:p/>
          </p:txBody>
        </p:sp>
      </p:grpSp>
      <p:sp>
        <p:nvSpPr>
          <p:cNvPr id="25" name="object 25"/>
          <p:cNvSpPr txBox="1"/>
          <p:nvPr/>
        </p:nvSpPr>
        <p:spPr>
          <a:xfrm>
            <a:off x="9053017" y="2472436"/>
            <a:ext cx="1628139" cy="392430"/>
          </a:xfrm>
          <a:prstGeom prst="rect">
            <a:avLst/>
          </a:prstGeom>
        </p:spPr>
        <p:txBody>
          <a:bodyPr vert="horz" wrap="square" lIns="0" tIns="12700" rIns="0" bIns="0" rtlCol="0">
            <a:spAutoFit/>
          </a:bodyPr>
          <a:lstStyle/>
          <a:p>
            <a:pPr marL="40005">
              <a:lnSpc>
                <a:spcPct val="100000"/>
              </a:lnSpc>
              <a:spcBef>
                <a:spcPts val="100"/>
              </a:spcBef>
            </a:pPr>
            <a:r>
              <a:rPr sz="1300" b="1" dirty="0">
                <a:solidFill>
                  <a:srgbClr val="FFFFFF"/>
                </a:solidFill>
                <a:latin typeface="Times New Roman" panose="02020603050405020304"/>
                <a:cs typeface="Times New Roman" panose="02020603050405020304"/>
              </a:rPr>
              <a:t>RBFN</a:t>
            </a:r>
            <a:r>
              <a:rPr sz="1300" b="1" spc="-45" dirty="0">
                <a:solidFill>
                  <a:srgbClr val="FFFFFF"/>
                </a:solidFill>
                <a:latin typeface="Times New Roman" panose="02020603050405020304"/>
                <a:cs typeface="Times New Roman" panose="02020603050405020304"/>
              </a:rPr>
              <a:t> </a:t>
            </a:r>
            <a:r>
              <a:rPr sz="1300" b="1" dirty="0">
                <a:solidFill>
                  <a:srgbClr val="FFFFFF"/>
                </a:solidFill>
                <a:latin typeface="Times New Roman" panose="02020603050405020304"/>
                <a:cs typeface="Times New Roman" panose="02020603050405020304"/>
              </a:rPr>
              <a:t>Crowd</a:t>
            </a:r>
            <a:r>
              <a:rPr sz="1300" b="1" spc="-45" dirty="0">
                <a:solidFill>
                  <a:srgbClr val="FFFFFF"/>
                </a:solidFill>
                <a:latin typeface="Times New Roman" panose="02020603050405020304"/>
                <a:cs typeface="Times New Roman" panose="02020603050405020304"/>
              </a:rPr>
              <a:t> </a:t>
            </a:r>
            <a:r>
              <a:rPr sz="1300" b="1" spc="-10" dirty="0">
                <a:solidFill>
                  <a:srgbClr val="FFFFFF"/>
                </a:solidFill>
                <a:latin typeface="Times New Roman" panose="02020603050405020304"/>
                <a:cs typeface="Times New Roman" panose="02020603050405020304"/>
              </a:rPr>
              <a:t>Density</a:t>
            </a:r>
            <a:endParaRPr sz="1300">
              <a:latin typeface="Times New Roman" panose="02020603050405020304"/>
              <a:cs typeface="Times New Roman" panose="02020603050405020304"/>
            </a:endParaRPr>
          </a:p>
          <a:p>
            <a:pPr marL="12700">
              <a:lnSpc>
                <a:spcPct val="100000"/>
              </a:lnSpc>
              <a:spcBef>
                <a:spcPts val="5"/>
              </a:spcBef>
            </a:pPr>
            <a:r>
              <a:rPr sz="1100" dirty="0">
                <a:solidFill>
                  <a:srgbClr val="FFFFFF"/>
                </a:solidFill>
                <a:latin typeface="Times New Roman" panose="02020603050405020304"/>
                <a:cs typeface="Times New Roman" panose="02020603050405020304"/>
              </a:rPr>
              <a:t>Estimation </a:t>
            </a:r>
            <a:r>
              <a:rPr sz="1100" spc="-10" dirty="0">
                <a:solidFill>
                  <a:srgbClr val="FFFFFF"/>
                </a:solidFill>
                <a:latin typeface="Times New Roman" panose="02020603050405020304"/>
                <a:cs typeface="Times New Roman" panose="02020603050405020304"/>
              </a:rPr>
              <a:t>(Low/Med/High)</a:t>
            </a:r>
            <a:endParaRPr sz="1100">
              <a:latin typeface="Times New Roman" panose="02020603050405020304"/>
              <a:cs typeface="Times New Roman" panose="02020603050405020304"/>
            </a:endParaRPr>
          </a:p>
        </p:txBody>
      </p:sp>
      <p:grpSp>
        <p:nvGrpSpPr>
          <p:cNvPr id="26" name="object 26"/>
          <p:cNvGrpSpPr/>
          <p:nvPr/>
        </p:nvGrpSpPr>
        <p:grpSpPr>
          <a:xfrm>
            <a:off x="1220533" y="4887277"/>
            <a:ext cx="3042920" cy="1061085"/>
            <a:chOff x="1220533" y="4887277"/>
            <a:chExt cx="3042920" cy="1061085"/>
          </a:xfrm>
        </p:grpSpPr>
        <p:sp>
          <p:nvSpPr>
            <p:cNvPr id="27" name="object 27"/>
            <p:cNvSpPr/>
            <p:nvPr/>
          </p:nvSpPr>
          <p:spPr>
            <a:xfrm>
              <a:off x="1225296" y="4892040"/>
              <a:ext cx="3033395" cy="1051560"/>
            </a:xfrm>
            <a:custGeom>
              <a:avLst/>
              <a:gdLst/>
              <a:ahLst/>
              <a:cxnLst/>
              <a:rect l="l" t="t" r="r" b="b"/>
              <a:pathLst>
                <a:path w="3033395" h="1051560">
                  <a:moveTo>
                    <a:pt x="2857800"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857800" y="0"/>
                  </a:lnTo>
                  <a:lnTo>
                    <a:pt x="2924870" y="13341"/>
                  </a:lnTo>
                  <a:lnTo>
                    <a:pt x="2981730"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close/>
                </a:path>
              </a:pathLst>
            </a:custGeom>
            <a:solidFill>
              <a:srgbClr val="C00000"/>
            </a:solidFill>
          </p:spPr>
          <p:txBody>
            <a:bodyPr wrap="square" lIns="0" tIns="0" rIns="0" bIns="0" rtlCol="0"/>
            <a:lstStyle/>
            <a:p/>
          </p:txBody>
        </p:sp>
        <p:sp>
          <p:nvSpPr>
            <p:cNvPr id="28" name="object 28"/>
            <p:cNvSpPr/>
            <p:nvPr/>
          </p:nvSpPr>
          <p:spPr>
            <a:xfrm>
              <a:off x="1225296" y="4892040"/>
              <a:ext cx="3033395" cy="1051560"/>
            </a:xfrm>
            <a:custGeom>
              <a:avLst/>
              <a:gdLst/>
              <a:ahLst/>
              <a:cxnLst/>
              <a:rect l="l" t="t" r="r" b="b"/>
              <a:pathLst>
                <a:path w="3033395" h="1051560">
                  <a:moveTo>
                    <a:pt x="0" y="175263"/>
                  </a:moveTo>
                  <a:lnTo>
                    <a:pt x="6260" y="128671"/>
                  </a:lnTo>
                  <a:lnTo>
                    <a:pt x="23928" y="86804"/>
                  </a:lnTo>
                  <a:lnTo>
                    <a:pt x="51333" y="51333"/>
                  </a:lnTo>
                  <a:lnTo>
                    <a:pt x="86804" y="23928"/>
                  </a:lnTo>
                  <a:lnTo>
                    <a:pt x="128671" y="6260"/>
                  </a:lnTo>
                  <a:lnTo>
                    <a:pt x="175263" y="0"/>
                  </a:lnTo>
                  <a:lnTo>
                    <a:pt x="2857800" y="0"/>
                  </a:lnTo>
                  <a:lnTo>
                    <a:pt x="2924870" y="13341"/>
                  </a:lnTo>
                  <a:lnTo>
                    <a:pt x="2981730"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C00000"/>
              </a:solidFill>
            </a:ln>
          </p:spPr>
          <p:txBody>
            <a:bodyPr wrap="square" lIns="0" tIns="0" rIns="0" bIns="0" rtlCol="0"/>
            <a:lstStyle/>
            <a:p/>
          </p:txBody>
        </p:sp>
      </p:grpSp>
      <p:sp>
        <p:nvSpPr>
          <p:cNvPr id="29" name="object 29"/>
          <p:cNvSpPr txBox="1"/>
          <p:nvPr/>
        </p:nvSpPr>
        <p:spPr>
          <a:xfrm>
            <a:off x="1769645" y="5215635"/>
            <a:ext cx="1945639" cy="392430"/>
          </a:xfrm>
          <a:prstGeom prst="rect">
            <a:avLst/>
          </a:prstGeom>
        </p:spPr>
        <p:txBody>
          <a:bodyPr vert="horz" wrap="square" lIns="0" tIns="12700" rIns="0" bIns="0" rtlCol="0">
            <a:spAutoFit/>
          </a:bodyPr>
          <a:lstStyle/>
          <a:p>
            <a:pPr algn="ctr">
              <a:lnSpc>
                <a:spcPct val="100000"/>
              </a:lnSpc>
              <a:spcBef>
                <a:spcPts val="100"/>
              </a:spcBef>
            </a:pPr>
            <a:r>
              <a:rPr sz="1300" b="1" dirty="0">
                <a:solidFill>
                  <a:srgbClr val="FFFFFF"/>
                </a:solidFill>
                <a:latin typeface="Times New Roman" panose="02020603050405020304"/>
                <a:cs typeface="Times New Roman" panose="02020603050405020304"/>
              </a:rPr>
              <a:t>Anomaly</a:t>
            </a:r>
            <a:r>
              <a:rPr sz="1300" b="1" spc="-55" dirty="0">
                <a:solidFill>
                  <a:srgbClr val="FFFFFF"/>
                </a:solidFill>
                <a:latin typeface="Times New Roman" panose="02020603050405020304"/>
                <a:cs typeface="Times New Roman" panose="02020603050405020304"/>
              </a:rPr>
              <a:t> </a:t>
            </a:r>
            <a:r>
              <a:rPr sz="1300" b="1" spc="-10" dirty="0">
                <a:solidFill>
                  <a:srgbClr val="FFFFFF"/>
                </a:solidFill>
                <a:latin typeface="Times New Roman" panose="02020603050405020304"/>
                <a:cs typeface="Times New Roman" panose="02020603050405020304"/>
              </a:rPr>
              <a:t>Detection</a:t>
            </a:r>
            <a:endParaRPr sz="1300">
              <a:latin typeface="Times New Roman" panose="02020603050405020304"/>
              <a:cs typeface="Times New Roman" panose="02020603050405020304"/>
            </a:endParaRPr>
          </a:p>
          <a:p>
            <a:pPr algn="ctr">
              <a:lnSpc>
                <a:spcPct val="100000"/>
              </a:lnSpc>
              <a:spcBef>
                <a:spcPts val="5"/>
              </a:spcBef>
            </a:pPr>
            <a:r>
              <a:rPr sz="1100" dirty="0">
                <a:solidFill>
                  <a:srgbClr val="FFFFFF"/>
                </a:solidFill>
                <a:latin typeface="Times New Roman" panose="02020603050405020304"/>
                <a:cs typeface="Times New Roman" panose="02020603050405020304"/>
              </a:rPr>
              <a:t>(Overcrowding,</a:t>
            </a:r>
            <a:r>
              <a:rPr sz="1100" spc="-1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Panic</a:t>
            </a:r>
            <a:r>
              <a:rPr sz="1100" spc="-10" dirty="0">
                <a:solidFill>
                  <a:srgbClr val="FFFFFF"/>
                </a:solidFill>
                <a:latin typeface="Times New Roman" panose="02020603050405020304"/>
                <a:cs typeface="Times New Roman" panose="02020603050405020304"/>
              </a:rPr>
              <a:t> Movement)</a:t>
            </a:r>
            <a:endParaRPr sz="1100">
              <a:latin typeface="Times New Roman" panose="02020603050405020304"/>
              <a:cs typeface="Times New Roman" panose="02020603050405020304"/>
            </a:endParaRPr>
          </a:p>
        </p:txBody>
      </p:sp>
      <p:grpSp>
        <p:nvGrpSpPr>
          <p:cNvPr id="30" name="object 30"/>
          <p:cNvGrpSpPr/>
          <p:nvPr/>
        </p:nvGrpSpPr>
        <p:grpSpPr>
          <a:xfrm>
            <a:off x="4142472" y="4887277"/>
            <a:ext cx="3474085" cy="1061085"/>
            <a:chOff x="4142472" y="4887277"/>
            <a:chExt cx="3474085" cy="1061085"/>
          </a:xfrm>
        </p:grpSpPr>
        <p:pic>
          <p:nvPicPr>
            <p:cNvPr id="31" name="object 31"/>
            <p:cNvPicPr/>
            <p:nvPr/>
          </p:nvPicPr>
          <p:blipFill>
            <a:blip r:embed="rId1" cstate="print"/>
            <a:stretch>
              <a:fillRect/>
            </a:stretch>
          </p:blipFill>
          <p:spPr>
            <a:xfrm>
              <a:off x="4142472" y="5352732"/>
              <a:ext cx="551815" cy="231775"/>
            </a:xfrm>
            <a:prstGeom prst="rect">
              <a:avLst/>
            </a:prstGeom>
          </p:spPr>
        </p:pic>
        <p:pic>
          <p:nvPicPr>
            <p:cNvPr id="32" name="object 32"/>
            <p:cNvPicPr/>
            <p:nvPr/>
          </p:nvPicPr>
          <p:blipFill>
            <a:blip r:embed="rId2" cstate="print"/>
            <a:stretch>
              <a:fillRect/>
            </a:stretch>
          </p:blipFill>
          <p:spPr>
            <a:xfrm>
              <a:off x="4258360" y="5356334"/>
              <a:ext cx="292553" cy="122971"/>
            </a:xfrm>
            <a:prstGeom prst="rect">
              <a:avLst/>
            </a:prstGeom>
          </p:spPr>
        </p:pic>
        <p:sp>
          <p:nvSpPr>
            <p:cNvPr id="33" name="object 33"/>
            <p:cNvSpPr/>
            <p:nvPr/>
          </p:nvSpPr>
          <p:spPr>
            <a:xfrm>
              <a:off x="4578400" y="4892040"/>
              <a:ext cx="3033395" cy="1051560"/>
            </a:xfrm>
            <a:custGeom>
              <a:avLst/>
              <a:gdLst/>
              <a:ahLst/>
              <a:cxnLst/>
              <a:rect l="l" t="t" r="r" b="b"/>
              <a:pathLst>
                <a:path w="3033395" h="1051560">
                  <a:moveTo>
                    <a:pt x="2857800"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857800" y="0"/>
                  </a:lnTo>
                  <a:lnTo>
                    <a:pt x="2924871" y="13341"/>
                  </a:lnTo>
                  <a:lnTo>
                    <a:pt x="2981730"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close/>
                </a:path>
              </a:pathLst>
            </a:custGeom>
            <a:solidFill>
              <a:srgbClr val="C00000"/>
            </a:solidFill>
          </p:spPr>
          <p:txBody>
            <a:bodyPr wrap="square" lIns="0" tIns="0" rIns="0" bIns="0" rtlCol="0"/>
            <a:lstStyle/>
            <a:p/>
          </p:txBody>
        </p:sp>
        <p:sp>
          <p:nvSpPr>
            <p:cNvPr id="34" name="object 34"/>
            <p:cNvSpPr/>
            <p:nvPr/>
          </p:nvSpPr>
          <p:spPr>
            <a:xfrm>
              <a:off x="4578400" y="4892040"/>
              <a:ext cx="3033395" cy="1051560"/>
            </a:xfrm>
            <a:custGeom>
              <a:avLst/>
              <a:gdLst/>
              <a:ahLst/>
              <a:cxnLst/>
              <a:rect l="l" t="t" r="r" b="b"/>
              <a:pathLst>
                <a:path w="3033395" h="1051560">
                  <a:moveTo>
                    <a:pt x="0" y="175263"/>
                  </a:moveTo>
                  <a:lnTo>
                    <a:pt x="6260" y="128671"/>
                  </a:lnTo>
                  <a:lnTo>
                    <a:pt x="23928" y="86804"/>
                  </a:lnTo>
                  <a:lnTo>
                    <a:pt x="51333" y="51333"/>
                  </a:lnTo>
                  <a:lnTo>
                    <a:pt x="86804" y="23928"/>
                  </a:lnTo>
                  <a:lnTo>
                    <a:pt x="128671" y="6260"/>
                  </a:lnTo>
                  <a:lnTo>
                    <a:pt x="175263" y="0"/>
                  </a:lnTo>
                  <a:lnTo>
                    <a:pt x="2857800" y="0"/>
                  </a:lnTo>
                  <a:lnTo>
                    <a:pt x="2924871" y="13341"/>
                  </a:lnTo>
                  <a:lnTo>
                    <a:pt x="2981730"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C00000"/>
              </a:solidFill>
            </a:ln>
          </p:spPr>
          <p:txBody>
            <a:bodyPr wrap="square" lIns="0" tIns="0" rIns="0" bIns="0" rtlCol="0"/>
            <a:lstStyle/>
            <a:p/>
          </p:txBody>
        </p:sp>
      </p:grpSp>
      <p:sp>
        <p:nvSpPr>
          <p:cNvPr id="35" name="object 35"/>
          <p:cNvSpPr txBox="1"/>
          <p:nvPr/>
        </p:nvSpPr>
        <p:spPr>
          <a:xfrm>
            <a:off x="5240980" y="5215635"/>
            <a:ext cx="1708150" cy="392430"/>
          </a:xfrm>
          <a:prstGeom prst="rect">
            <a:avLst/>
          </a:prstGeom>
        </p:spPr>
        <p:txBody>
          <a:bodyPr vert="horz" wrap="square" lIns="0" tIns="12700" rIns="0" bIns="0" rtlCol="0">
            <a:spAutoFit/>
          </a:bodyPr>
          <a:lstStyle/>
          <a:p>
            <a:pPr algn="ctr">
              <a:lnSpc>
                <a:spcPct val="100000"/>
              </a:lnSpc>
              <a:spcBef>
                <a:spcPts val="100"/>
              </a:spcBef>
            </a:pPr>
            <a:r>
              <a:rPr sz="1300" b="1" dirty="0">
                <a:solidFill>
                  <a:srgbClr val="FFFFFF"/>
                </a:solidFill>
                <a:latin typeface="Times New Roman" panose="02020603050405020304"/>
                <a:cs typeface="Times New Roman" panose="02020603050405020304"/>
              </a:rPr>
              <a:t>Alert</a:t>
            </a:r>
            <a:r>
              <a:rPr sz="1300" b="1" spc="-30" dirty="0">
                <a:solidFill>
                  <a:srgbClr val="FFFFFF"/>
                </a:solidFill>
                <a:latin typeface="Times New Roman" panose="02020603050405020304"/>
                <a:cs typeface="Times New Roman" panose="02020603050405020304"/>
              </a:rPr>
              <a:t> </a:t>
            </a:r>
            <a:r>
              <a:rPr sz="1300" b="1" spc="-10" dirty="0">
                <a:solidFill>
                  <a:srgbClr val="FFFFFF"/>
                </a:solidFill>
                <a:latin typeface="Times New Roman" panose="02020603050405020304"/>
                <a:cs typeface="Times New Roman" panose="02020603050405020304"/>
              </a:rPr>
              <a:t>Generation</a:t>
            </a:r>
            <a:endParaRPr sz="1300">
              <a:latin typeface="Times New Roman" panose="02020603050405020304"/>
              <a:cs typeface="Times New Roman" panose="02020603050405020304"/>
            </a:endParaRPr>
          </a:p>
          <a:p>
            <a:pPr algn="ctr">
              <a:lnSpc>
                <a:spcPct val="100000"/>
              </a:lnSpc>
              <a:spcBef>
                <a:spcPts val="5"/>
              </a:spcBef>
            </a:pPr>
            <a:r>
              <a:rPr sz="1100" dirty="0">
                <a:solidFill>
                  <a:srgbClr val="FFFFFF"/>
                </a:solidFill>
                <a:latin typeface="Times New Roman" panose="02020603050405020304"/>
                <a:cs typeface="Times New Roman" panose="02020603050405020304"/>
              </a:rPr>
              <a:t>(Instant</a:t>
            </a:r>
            <a:r>
              <a:rPr sz="1100" spc="-2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Security</a:t>
            </a:r>
            <a:r>
              <a:rPr sz="1100" spc="-15" dirty="0">
                <a:solidFill>
                  <a:srgbClr val="FFFFFF"/>
                </a:solidFill>
                <a:latin typeface="Times New Roman" panose="02020603050405020304"/>
                <a:cs typeface="Times New Roman" panose="02020603050405020304"/>
              </a:rPr>
              <a:t> </a:t>
            </a:r>
            <a:r>
              <a:rPr sz="1100" spc="-10" dirty="0">
                <a:solidFill>
                  <a:srgbClr val="FFFFFF"/>
                </a:solidFill>
                <a:latin typeface="Times New Roman" panose="02020603050405020304"/>
                <a:cs typeface="Times New Roman" panose="02020603050405020304"/>
              </a:rPr>
              <a:t>Notification)</a:t>
            </a:r>
            <a:endParaRPr sz="1100">
              <a:latin typeface="Times New Roman" panose="02020603050405020304"/>
              <a:cs typeface="Times New Roman" panose="02020603050405020304"/>
            </a:endParaRPr>
          </a:p>
        </p:txBody>
      </p:sp>
      <p:grpSp>
        <p:nvGrpSpPr>
          <p:cNvPr id="36" name="object 36"/>
          <p:cNvGrpSpPr/>
          <p:nvPr/>
        </p:nvGrpSpPr>
        <p:grpSpPr>
          <a:xfrm>
            <a:off x="7495577" y="4887277"/>
            <a:ext cx="3474085" cy="1061085"/>
            <a:chOff x="7495577" y="4887277"/>
            <a:chExt cx="3474085" cy="1061085"/>
          </a:xfrm>
        </p:grpSpPr>
        <p:pic>
          <p:nvPicPr>
            <p:cNvPr id="37" name="object 37"/>
            <p:cNvPicPr/>
            <p:nvPr/>
          </p:nvPicPr>
          <p:blipFill>
            <a:blip r:embed="rId1" cstate="print"/>
            <a:stretch>
              <a:fillRect/>
            </a:stretch>
          </p:blipFill>
          <p:spPr>
            <a:xfrm>
              <a:off x="7495577" y="5352732"/>
              <a:ext cx="551815" cy="231775"/>
            </a:xfrm>
            <a:prstGeom prst="rect">
              <a:avLst/>
            </a:prstGeom>
          </p:spPr>
        </p:pic>
        <p:pic>
          <p:nvPicPr>
            <p:cNvPr id="38" name="object 38"/>
            <p:cNvPicPr/>
            <p:nvPr/>
          </p:nvPicPr>
          <p:blipFill>
            <a:blip r:embed="rId2" cstate="print"/>
            <a:stretch>
              <a:fillRect/>
            </a:stretch>
          </p:blipFill>
          <p:spPr>
            <a:xfrm>
              <a:off x="7611464" y="5356334"/>
              <a:ext cx="292552" cy="122971"/>
            </a:xfrm>
            <a:prstGeom prst="rect">
              <a:avLst/>
            </a:prstGeom>
          </p:spPr>
        </p:pic>
        <p:sp>
          <p:nvSpPr>
            <p:cNvPr id="39" name="object 39"/>
            <p:cNvSpPr/>
            <p:nvPr/>
          </p:nvSpPr>
          <p:spPr>
            <a:xfrm>
              <a:off x="7931504" y="4892040"/>
              <a:ext cx="3033395" cy="1051560"/>
            </a:xfrm>
            <a:custGeom>
              <a:avLst/>
              <a:gdLst/>
              <a:ahLst/>
              <a:cxnLst/>
              <a:rect l="l" t="t" r="r" b="b"/>
              <a:pathLst>
                <a:path w="3033395" h="1051560">
                  <a:moveTo>
                    <a:pt x="2857800" y="1051559"/>
                  </a:moveTo>
                  <a:lnTo>
                    <a:pt x="175263" y="1051559"/>
                  </a:lnTo>
                  <a:lnTo>
                    <a:pt x="128671" y="1045299"/>
                  </a:lnTo>
                  <a:lnTo>
                    <a:pt x="86804" y="1027631"/>
                  </a:lnTo>
                  <a:lnTo>
                    <a:pt x="51333" y="1000226"/>
                  </a:lnTo>
                  <a:lnTo>
                    <a:pt x="23928" y="964755"/>
                  </a:lnTo>
                  <a:lnTo>
                    <a:pt x="6260" y="922888"/>
                  </a:lnTo>
                  <a:lnTo>
                    <a:pt x="0" y="876296"/>
                  </a:lnTo>
                  <a:lnTo>
                    <a:pt x="0" y="175263"/>
                  </a:lnTo>
                  <a:lnTo>
                    <a:pt x="6260" y="128671"/>
                  </a:lnTo>
                  <a:lnTo>
                    <a:pt x="23928" y="86804"/>
                  </a:lnTo>
                  <a:lnTo>
                    <a:pt x="51333" y="51333"/>
                  </a:lnTo>
                  <a:lnTo>
                    <a:pt x="86804" y="23928"/>
                  </a:lnTo>
                  <a:lnTo>
                    <a:pt x="128671" y="6260"/>
                  </a:lnTo>
                  <a:lnTo>
                    <a:pt x="175263" y="0"/>
                  </a:lnTo>
                  <a:lnTo>
                    <a:pt x="2857800" y="0"/>
                  </a:lnTo>
                  <a:lnTo>
                    <a:pt x="2924870" y="13341"/>
                  </a:lnTo>
                  <a:lnTo>
                    <a:pt x="2981729"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close/>
                </a:path>
              </a:pathLst>
            </a:custGeom>
            <a:solidFill>
              <a:srgbClr val="548235"/>
            </a:solidFill>
          </p:spPr>
          <p:txBody>
            <a:bodyPr wrap="square" lIns="0" tIns="0" rIns="0" bIns="0" rtlCol="0"/>
            <a:lstStyle/>
            <a:p/>
          </p:txBody>
        </p:sp>
        <p:sp>
          <p:nvSpPr>
            <p:cNvPr id="40" name="object 40"/>
            <p:cNvSpPr/>
            <p:nvPr/>
          </p:nvSpPr>
          <p:spPr>
            <a:xfrm>
              <a:off x="7931504" y="4892040"/>
              <a:ext cx="3033395" cy="1051560"/>
            </a:xfrm>
            <a:custGeom>
              <a:avLst/>
              <a:gdLst/>
              <a:ahLst/>
              <a:cxnLst/>
              <a:rect l="l" t="t" r="r" b="b"/>
              <a:pathLst>
                <a:path w="3033395" h="1051560">
                  <a:moveTo>
                    <a:pt x="0" y="175263"/>
                  </a:moveTo>
                  <a:lnTo>
                    <a:pt x="6260" y="128671"/>
                  </a:lnTo>
                  <a:lnTo>
                    <a:pt x="23928" y="86804"/>
                  </a:lnTo>
                  <a:lnTo>
                    <a:pt x="51333" y="51333"/>
                  </a:lnTo>
                  <a:lnTo>
                    <a:pt x="86804" y="23928"/>
                  </a:lnTo>
                  <a:lnTo>
                    <a:pt x="128671" y="6260"/>
                  </a:lnTo>
                  <a:lnTo>
                    <a:pt x="175263" y="0"/>
                  </a:lnTo>
                  <a:lnTo>
                    <a:pt x="2857800" y="0"/>
                  </a:lnTo>
                  <a:lnTo>
                    <a:pt x="2924870" y="13341"/>
                  </a:lnTo>
                  <a:lnTo>
                    <a:pt x="2981729" y="51333"/>
                  </a:lnTo>
                  <a:lnTo>
                    <a:pt x="3019722" y="108193"/>
                  </a:lnTo>
                  <a:lnTo>
                    <a:pt x="3033063" y="175263"/>
                  </a:lnTo>
                  <a:lnTo>
                    <a:pt x="3033063" y="876296"/>
                  </a:lnTo>
                  <a:lnTo>
                    <a:pt x="3026803" y="922888"/>
                  </a:lnTo>
                  <a:lnTo>
                    <a:pt x="3009135" y="964755"/>
                  </a:lnTo>
                  <a:lnTo>
                    <a:pt x="2981730" y="1000226"/>
                  </a:lnTo>
                  <a:lnTo>
                    <a:pt x="2946259" y="1027631"/>
                  </a:lnTo>
                  <a:lnTo>
                    <a:pt x="2904392" y="1045299"/>
                  </a:lnTo>
                  <a:lnTo>
                    <a:pt x="2857800" y="1051559"/>
                  </a:lnTo>
                  <a:lnTo>
                    <a:pt x="175263" y="1051559"/>
                  </a:lnTo>
                  <a:lnTo>
                    <a:pt x="128671" y="1045299"/>
                  </a:lnTo>
                  <a:lnTo>
                    <a:pt x="86804" y="1027631"/>
                  </a:lnTo>
                  <a:lnTo>
                    <a:pt x="51333" y="1000226"/>
                  </a:lnTo>
                  <a:lnTo>
                    <a:pt x="23928" y="964755"/>
                  </a:lnTo>
                  <a:lnTo>
                    <a:pt x="6260" y="922888"/>
                  </a:lnTo>
                  <a:lnTo>
                    <a:pt x="0" y="876296"/>
                  </a:lnTo>
                  <a:lnTo>
                    <a:pt x="0" y="175263"/>
                  </a:lnTo>
                  <a:close/>
                </a:path>
              </a:pathLst>
            </a:custGeom>
            <a:ln w="9524">
              <a:solidFill>
                <a:srgbClr val="548235"/>
              </a:solidFill>
            </a:ln>
          </p:spPr>
          <p:txBody>
            <a:bodyPr wrap="square" lIns="0" tIns="0" rIns="0" bIns="0" rtlCol="0"/>
            <a:lstStyle/>
            <a:p/>
          </p:txBody>
        </p:sp>
      </p:grpSp>
      <p:sp>
        <p:nvSpPr>
          <p:cNvPr id="41" name="object 41"/>
          <p:cNvSpPr txBox="1"/>
          <p:nvPr/>
        </p:nvSpPr>
        <p:spPr>
          <a:xfrm>
            <a:off x="8714535" y="5215635"/>
            <a:ext cx="1468120" cy="392430"/>
          </a:xfrm>
          <a:prstGeom prst="rect">
            <a:avLst/>
          </a:prstGeom>
        </p:spPr>
        <p:txBody>
          <a:bodyPr vert="horz" wrap="square" lIns="0" tIns="12700" rIns="0" bIns="0" rtlCol="0">
            <a:spAutoFit/>
          </a:bodyPr>
          <a:lstStyle/>
          <a:p>
            <a:pPr algn="ctr">
              <a:lnSpc>
                <a:spcPct val="100000"/>
              </a:lnSpc>
              <a:spcBef>
                <a:spcPts val="100"/>
              </a:spcBef>
            </a:pPr>
            <a:r>
              <a:rPr sz="1300" b="1" spc="-10" dirty="0">
                <a:solidFill>
                  <a:srgbClr val="FFFFFF"/>
                </a:solidFill>
                <a:latin typeface="Times New Roman" panose="02020603050405020304"/>
                <a:cs typeface="Times New Roman" panose="02020603050405020304"/>
              </a:rPr>
              <a:t>Dashboard</a:t>
            </a:r>
            <a:endParaRPr sz="1300">
              <a:latin typeface="Times New Roman" panose="02020603050405020304"/>
              <a:cs typeface="Times New Roman" panose="02020603050405020304"/>
            </a:endParaRPr>
          </a:p>
          <a:p>
            <a:pPr algn="ctr">
              <a:lnSpc>
                <a:spcPct val="100000"/>
              </a:lnSpc>
              <a:spcBef>
                <a:spcPts val="5"/>
              </a:spcBef>
            </a:pPr>
            <a:r>
              <a:rPr sz="1100" spc="-10" dirty="0">
                <a:solidFill>
                  <a:srgbClr val="FFFFFF"/>
                </a:solidFill>
                <a:latin typeface="Times New Roman" panose="02020603050405020304"/>
                <a:cs typeface="Times New Roman" panose="02020603050405020304"/>
              </a:rPr>
              <a:t>(Visualization</a:t>
            </a:r>
            <a:r>
              <a:rPr sz="1100" spc="25" dirty="0">
                <a:solidFill>
                  <a:srgbClr val="FFFFFF"/>
                </a:solidFill>
                <a:latin typeface="Times New Roman" panose="02020603050405020304"/>
                <a:cs typeface="Times New Roman" panose="02020603050405020304"/>
              </a:rPr>
              <a:t> </a:t>
            </a:r>
            <a:r>
              <a:rPr sz="1100" dirty="0">
                <a:solidFill>
                  <a:srgbClr val="FFFFFF"/>
                </a:solidFill>
                <a:latin typeface="Times New Roman" panose="02020603050405020304"/>
                <a:cs typeface="Times New Roman" panose="02020603050405020304"/>
              </a:rPr>
              <a:t>&amp;</a:t>
            </a:r>
            <a:r>
              <a:rPr sz="1100" spc="20" dirty="0">
                <a:solidFill>
                  <a:srgbClr val="FFFFFF"/>
                </a:solidFill>
                <a:latin typeface="Times New Roman" panose="02020603050405020304"/>
                <a:cs typeface="Times New Roman" panose="02020603050405020304"/>
              </a:rPr>
              <a:t> </a:t>
            </a:r>
            <a:r>
              <a:rPr sz="1100" spc="-10" dirty="0">
                <a:solidFill>
                  <a:srgbClr val="FFFFFF"/>
                </a:solidFill>
                <a:latin typeface="Times New Roman" panose="02020603050405020304"/>
                <a:cs typeface="Times New Roman" panose="02020603050405020304"/>
              </a:rPr>
              <a:t>Reports)</a:t>
            </a:r>
            <a:endParaRPr sz="1100">
              <a:latin typeface="Times New Roman" panose="02020603050405020304"/>
              <a:cs typeface="Times New Roman" panose="02020603050405020304"/>
            </a:endParaRPr>
          </a:p>
        </p:txBody>
      </p:sp>
      <p:grpSp>
        <p:nvGrpSpPr>
          <p:cNvPr id="42" name="object 42"/>
          <p:cNvGrpSpPr/>
          <p:nvPr/>
        </p:nvGrpSpPr>
        <p:grpSpPr>
          <a:xfrm>
            <a:off x="2625940" y="3135312"/>
            <a:ext cx="7356475" cy="1923414"/>
            <a:chOff x="2625940" y="3135312"/>
            <a:chExt cx="7356475" cy="1923414"/>
          </a:xfrm>
        </p:grpSpPr>
        <p:pic>
          <p:nvPicPr>
            <p:cNvPr id="43" name="object 43"/>
            <p:cNvPicPr/>
            <p:nvPr/>
          </p:nvPicPr>
          <p:blipFill>
            <a:blip r:embed="rId3" cstate="print"/>
            <a:stretch>
              <a:fillRect/>
            </a:stretch>
          </p:blipFill>
          <p:spPr>
            <a:xfrm>
              <a:off x="9750488" y="3135312"/>
              <a:ext cx="231775" cy="1077595"/>
            </a:xfrm>
            <a:prstGeom prst="rect">
              <a:avLst/>
            </a:prstGeom>
          </p:spPr>
        </p:pic>
        <p:sp>
          <p:nvSpPr>
            <p:cNvPr id="44" name="object 44"/>
            <p:cNvSpPr/>
            <p:nvPr/>
          </p:nvSpPr>
          <p:spPr>
            <a:xfrm>
              <a:off x="9866375" y="3200400"/>
              <a:ext cx="0" cy="845819"/>
            </a:xfrm>
            <a:custGeom>
              <a:avLst/>
              <a:gdLst/>
              <a:ahLst/>
              <a:cxnLst/>
              <a:rect l="l" t="t" r="r" b="b"/>
              <a:pathLst>
                <a:path h="845820">
                  <a:moveTo>
                    <a:pt x="0" y="0"/>
                  </a:moveTo>
                  <a:lnTo>
                    <a:pt x="0" y="845819"/>
                  </a:lnTo>
                </a:path>
              </a:pathLst>
            </a:custGeom>
            <a:ln w="28574">
              <a:solidFill>
                <a:srgbClr val="595959"/>
              </a:solidFill>
            </a:ln>
          </p:spPr>
          <p:txBody>
            <a:bodyPr wrap="square" lIns="0" tIns="0" rIns="0" bIns="0" rtlCol="0"/>
            <a:lstStyle/>
            <a:p/>
          </p:txBody>
        </p:sp>
        <p:pic>
          <p:nvPicPr>
            <p:cNvPr id="45" name="object 45"/>
            <p:cNvPicPr/>
            <p:nvPr/>
          </p:nvPicPr>
          <p:blipFill>
            <a:blip r:embed="rId4" cstate="print"/>
            <a:stretch>
              <a:fillRect/>
            </a:stretch>
          </p:blipFill>
          <p:spPr>
            <a:xfrm>
              <a:off x="2625940" y="3981132"/>
              <a:ext cx="7356322" cy="231775"/>
            </a:xfrm>
            <a:prstGeom prst="rect">
              <a:avLst/>
            </a:prstGeom>
          </p:spPr>
        </p:pic>
        <p:sp>
          <p:nvSpPr>
            <p:cNvPr id="46" name="object 46"/>
            <p:cNvSpPr/>
            <p:nvPr/>
          </p:nvSpPr>
          <p:spPr>
            <a:xfrm>
              <a:off x="2741827" y="4046220"/>
              <a:ext cx="7124700" cy="0"/>
            </a:xfrm>
            <a:custGeom>
              <a:avLst/>
              <a:gdLst/>
              <a:ahLst/>
              <a:cxnLst/>
              <a:rect l="l" t="t" r="r" b="b"/>
              <a:pathLst>
                <a:path w="7124700">
                  <a:moveTo>
                    <a:pt x="7124547" y="0"/>
                  </a:moveTo>
                  <a:lnTo>
                    <a:pt x="0" y="0"/>
                  </a:lnTo>
                </a:path>
              </a:pathLst>
            </a:custGeom>
            <a:ln w="28574">
              <a:solidFill>
                <a:srgbClr val="595959"/>
              </a:solidFill>
            </a:ln>
          </p:spPr>
          <p:txBody>
            <a:bodyPr wrap="square" lIns="0" tIns="0" rIns="0" bIns="0" rtlCol="0"/>
            <a:lstStyle/>
            <a:p/>
          </p:txBody>
        </p:sp>
        <p:pic>
          <p:nvPicPr>
            <p:cNvPr id="47" name="object 47"/>
            <p:cNvPicPr/>
            <p:nvPr/>
          </p:nvPicPr>
          <p:blipFill>
            <a:blip r:embed="rId5" cstate="print"/>
            <a:stretch>
              <a:fillRect/>
            </a:stretch>
          </p:blipFill>
          <p:spPr>
            <a:xfrm>
              <a:off x="2625940" y="3981132"/>
              <a:ext cx="231775" cy="1077595"/>
            </a:xfrm>
            <a:prstGeom prst="rect">
              <a:avLst/>
            </a:prstGeom>
          </p:spPr>
        </p:pic>
        <p:sp>
          <p:nvSpPr>
            <p:cNvPr id="48" name="object 48"/>
            <p:cNvSpPr/>
            <p:nvPr/>
          </p:nvSpPr>
          <p:spPr>
            <a:xfrm>
              <a:off x="2741827" y="4046220"/>
              <a:ext cx="0" cy="674370"/>
            </a:xfrm>
            <a:custGeom>
              <a:avLst/>
              <a:gdLst/>
              <a:ahLst/>
              <a:cxnLst/>
              <a:rect l="l" t="t" r="r" b="b"/>
              <a:pathLst>
                <a:path h="674370">
                  <a:moveTo>
                    <a:pt x="0" y="0"/>
                  </a:moveTo>
                  <a:lnTo>
                    <a:pt x="0" y="674369"/>
                  </a:lnTo>
                </a:path>
              </a:pathLst>
            </a:custGeom>
            <a:ln w="28574">
              <a:solidFill>
                <a:srgbClr val="595959"/>
              </a:solidFill>
            </a:ln>
          </p:spPr>
          <p:txBody>
            <a:bodyPr wrap="square" lIns="0" tIns="0" rIns="0" bIns="0" rtlCol="0"/>
            <a:lstStyle/>
            <a:p/>
          </p:txBody>
        </p:sp>
        <p:pic>
          <p:nvPicPr>
            <p:cNvPr id="49" name="object 49"/>
            <p:cNvPicPr/>
            <p:nvPr/>
          </p:nvPicPr>
          <p:blipFill>
            <a:blip r:embed="rId6" cstate="print"/>
            <a:stretch>
              <a:fillRect/>
            </a:stretch>
          </p:blipFill>
          <p:spPr>
            <a:xfrm>
              <a:off x="2680342" y="4706302"/>
              <a:ext cx="122971" cy="158250"/>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70" y="1752587"/>
            <a:ext cx="10549890" cy="519430"/>
          </a:xfrm>
          <a:prstGeom prst="rect">
            <a:avLst/>
          </a:prstGeom>
        </p:spPr>
        <p:txBody>
          <a:bodyPr vert="horz" wrap="square" lIns="0" tIns="12700" rIns="0" bIns="0" rtlCol="0">
            <a:spAutoFit/>
          </a:bodyPr>
          <a:lstStyle/>
          <a:p>
            <a:pPr marL="12700">
              <a:lnSpc>
                <a:spcPct val="100000"/>
              </a:lnSpc>
              <a:spcBef>
                <a:spcPts val="100"/>
              </a:spcBef>
            </a:pPr>
            <a:r>
              <a:rPr spc="-10" dirty="0"/>
              <a:t>SDG-</a:t>
            </a:r>
            <a:r>
              <a:rPr dirty="0"/>
              <a:t>Sustainble</a:t>
            </a:r>
            <a:r>
              <a:rPr spc="-120" dirty="0"/>
              <a:t> </a:t>
            </a:r>
            <a:r>
              <a:rPr dirty="0"/>
              <a:t>development</a:t>
            </a:r>
            <a:r>
              <a:rPr spc="-110" dirty="0"/>
              <a:t> </a:t>
            </a:r>
            <a:r>
              <a:rPr spc="-20" dirty="0"/>
              <a:t>Goal</a:t>
            </a:r>
            <a:endParaRPr spc="-20" dirty="0"/>
          </a:p>
        </p:txBody>
      </p:sp>
      <p:sp>
        <p:nvSpPr>
          <p:cNvPr id="3" name="object 3"/>
          <p:cNvSpPr txBox="1"/>
          <p:nvPr/>
        </p:nvSpPr>
        <p:spPr>
          <a:xfrm>
            <a:off x="761789" y="2590854"/>
            <a:ext cx="8805545" cy="4209415"/>
          </a:xfrm>
          <a:prstGeom prst="rect">
            <a:avLst/>
          </a:prstGeom>
        </p:spPr>
        <p:txBody>
          <a:bodyPr vert="horz" wrap="square" lIns="0" tIns="12700" rIns="0" bIns="0" rtlCol="0">
            <a:spAutoFit/>
          </a:bodyPr>
          <a:lstStyle/>
          <a:p>
            <a:pPr marL="36195">
              <a:lnSpc>
                <a:spcPct val="100000"/>
              </a:lnSpc>
              <a:spcBef>
                <a:spcPts val="100"/>
              </a:spcBef>
            </a:pPr>
            <a:r>
              <a:rPr sz="2000" b="1" dirty="0">
                <a:solidFill>
                  <a:srgbClr val="595959"/>
                </a:solidFill>
                <a:latin typeface="Times New Roman" panose="02020603050405020304"/>
                <a:cs typeface="Times New Roman" panose="02020603050405020304"/>
              </a:rPr>
              <a:t>Relevant</a:t>
            </a:r>
            <a:r>
              <a:rPr sz="2000" b="1" spc="-35"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SDG:</a:t>
            </a:r>
            <a:r>
              <a:rPr sz="2000" b="1" spc="-30"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Goal</a:t>
            </a:r>
            <a:r>
              <a:rPr sz="2000" b="1" spc="-35"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11</a:t>
            </a:r>
            <a:r>
              <a:rPr sz="2000" b="1" spc="-30"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a:t>
            </a:r>
            <a:r>
              <a:rPr sz="2000" b="1" spc="-30"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Sustainable</a:t>
            </a:r>
            <a:r>
              <a:rPr sz="2000" b="1" spc="-35"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Cities</a:t>
            </a:r>
            <a:r>
              <a:rPr sz="2000" b="1" spc="-35" dirty="0">
                <a:solidFill>
                  <a:srgbClr val="595959"/>
                </a:solidFill>
                <a:latin typeface="Times New Roman" panose="02020603050405020304"/>
                <a:cs typeface="Times New Roman" panose="02020603050405020304"/>
              </a:rPr>
              <a:t> </a:t>
            </a:r>
            <a:r>
              <a:rPr sz="2000" b="1" dirty="0">
                <a:solidFill>
                  <a:srgbClr val="595959"/>
                </a:solidFill>
                <a:latin typeface="Times New Roman" panose="02020603050405020304"/>
                <a:cs typeface="Times New Roman" panose="02020603050405020304"/>
              </a:rPr>
              <a:t>and</a:t>
            </a:r>
            <a:r>
              <a:rPr sz="2000" b="1" spc="-35" dirty="0">
                <a:solidFill>
                  <a:srgbClr val="595959"/>
                </a:solidFill>
                <a:latin typeface="Times New Roman" panose="02020603050405020304"/>
                <a:cs typeface="Times New Roman" panose="02020603050405020304"/>
              </a:rPr>
              <a:t> </a:t>
            </a:r>
            <a:r>
              <a:rPr sz="2000" b="1" spc="-10" dirty="0">
                <a:solidFill>
                  <a:srgbClr val="595959"/>
                </a:solidFill>
                <a:latin typeface="Times New Roman" panose="02020603050405020304"/>
                <a:cs typeface="Times New Roman" panose="02020603050405020304"/>
              </a:rPr>
              <a:t>Communities</a:t>
            </a:r>
            <a:endParaRPr sz="2000">
              <a:latin typeface="Times New Roman" panose="02020603050405020304"/>
              <a:cs typeface="Times New Roman" panose="02020603050405020304"/>
            </a:endParaRPr>
          </a:p>
          <a:p>
            <a:pPr marL="264160" indent="-251460">
              <a:lnSpc>
                <a:spcPct val="100000"/>
              </a:lnSpc>
              <a:spcBef>
                <a:spcPts val="1725"/>
              </a:spcBef>
              <a:buFont typeface="Arial MT"/>
              <a:buChar char="●"/>
              <a:tabLst>
                <a:tab pos="264160" algn="l"/>
              </a:tabLst>
            </a:pPr>
            <a:r>
              <a:rPr sz="1800" dirty="0">
                <a:solidFill>
                  <a:srgbClr val="595959"/>
                </a:solidFill>
                <a:latin typeface="Times New Roman" panose="02020603050405020304"/>
                <a:cs typeface="Times New Roman" panose="02020603050405020304"/>
              </a:rPr>
              <a:t>Supports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SDG</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11</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by</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improving</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safety</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public</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spaces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through</a:t>
            </a:r>
            <a:r>
              <a:rPr sz="1800" spc="-3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intelligent</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crowd</a:t>
            </a:r>
            <a:r>
              <a:rPr sz="1800" spc="-3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monitoring.</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Reduces</a:t>
            </a:r>
            <a:r>
              <a:rPr sz="1800" spc="-5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risk</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overcrowding,</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stampedes,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other</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crowd-</a:t>
            </a:r>
            <a:r>
              <a:rPr sz="1800" dirty="0">
                <a:solidFill>
                  <a:srgbClr val="595959"/>
                </a:solidFill>
                <a:latin typeface="Times New Roman" panose="02020603050405020304"/>
                <a:cs typeface="Times New Roman" panose="02020603050405020304"/>
              </a:rPr>
              <a:t>related</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accidents.</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Enables</a:t>
            </a:r>
            <a:r>
              <a:rPr sz="1800" spc="-50" dirty="0">
                <a:solidFill>
                  <a:srgbClr val="595959"/>
                </a:solidFill>
                <a:latin typeface="Times New Roman" panose="02020603050405020304"/>
                <a:cs typeface="Times New Roman" panose="02020603050405020304"/>
              </a:rPr>
              <a:t> </a:t>
            </a:r>
            <a:r>
              <a:rPr sz="1800" spc="-20" dirty="0">
                <a:solidFill>
                  <a:srgbClr val="595959"/>
                </a:solidFill>
                <a:latin typeface="Times New Roman" panose="02020603050405020304"/>
                <a:cs typeface="Times New Roman" panose="02020603050405020304"/>
              </a:rPr>
              <a:t>real-</a:t>
            </a:r>
            <a:r>
              <a:rPr sz="1800" dirty="0">
                <a:solidFill>
                  <a:srgbClr val="595959"/>
                </a:solidFill>
                <a:latin typeface="Times New Roman" panose="02020603050405020304"/>
                <a:cs typeface="Times New Roman" panose="02020603050405020304"/>
              </a:rPr>
              <a:t>time</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surveillance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for</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better</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emergency</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response</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disaster</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management.</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dirty="0">
                <a:solidFill>
                  <a:srgbClr val="595959"/>
                </a:solidFill>
                <a:latin typeface="Times New Roman" panose="02020603050405020304"/>
                <a:cs typeface="Times New Roman" panose="02020603050405020304"/>
              </a:rPr>
              <a:t>Enhances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public</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security</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airports,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railway</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stations,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shopping</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malls,</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stadiums.</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Promotes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the</a:t>
            </a:r>
            <a:r>
              <a:rPr sz="1800" spc="-3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development</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smart</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city</a:t>
            </a:r>
            <a:r>
              <a:rPr sz="1800" spc="-3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infrastructure</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using</a:t>
            </a:r>
            <a:r>
              <a:rPr sz="1800" spc="-11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AI</a:t>
            </a:r>
            <a:r>
              <a:rPr sz="1800" spc="-3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computer</a:t>
            </a:r>
            <a:r>
              <a:rPr sz="1800" spc="-3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vision.</a:t>
            </a:r>
            <a:endParaRPr sz="1800">
              <a:latin typeface="Times New Roman" panose="02020603050405020304"/>
              <a:cs typeface="Times New Roman" panose="02020603050405020304"/>
            </a:endParaRPr>
          </a:p>
          <a:p>
            <a:pPr marL="264160" indent="-251460">
              <a:lnSpc>
                <a:spcPct val="100000"/>
              </a:lnSpc>
              <a:spcBef>
                <a:spcPts val="1645"/>
              </a:spcBef>
              <a:buFont typeface="Arial MT"/>
              <a:buChar char="●"/>
              <a:tabLst>
                <a:tab pos="264160" algn="l"/>
              </a:tabLst>
            </a:pPr>
            <a:r>
              <a:rPr sz="1800" dirty="0">
                <a:solidFill>
                  <a:srgbClr val="595959"/>
                </a:solidFill>
                <a:latin typeface="Times New Roman" panose="02020603050405020304"/>
                <a:cs typeface="Times New Roman" panose="02020603050405020304"/>
              </a:rPr>
              <a:t>Assists</a:t>
            </a:r>
            <a:r>
              <a:rPr sz="1800" spc="-6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authorities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in</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managing</a:t>
            </a:r>
            <a:r>
              <a:rPr sz="1800" spc="-4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large</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public</a:t>
            </a:r>
            <a:r>
              <a:rPr sz="1800" spc="-5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gatherings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more</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efficiently.</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Improves</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quality</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of</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urban</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life</a:t>
            </a:r>
            <a:r>
              <a:rPr sz="1800" spc="-50"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by</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ensuring</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safer</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public</a:t>
            </a:r>
            <a:r>
              <a:rPr sz="1800" spc="-5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environments.</a:t>
            </a:r>
            <a:endParaRPr sz="1800">
              <a:latin typeface="Times New Roman" panose="02020603050405020304"/>
              <a:cs typeface="Times New Roman" panose="02020603050405020304"/>
            </a:endParaRPr>
          </a:p>
          <a:p>
            <a:pPr marL="264160" indent="-251460">
              <a:lnSpc>
                <a:spcPct val="100000"/>
              </a:lnSpc>
              <a:spcBef>
                <a:spcPts val="1650"/>
              </a:spcBef>
              <a:buFont typeface="Arial MT"/>
              <a:buChar char="●"/>
              <a:tabLst>
                <a:tab pos="264160" algn="l"/>
              </a:tabLst>
            </a:pPr>
            <a:r>
              <a:rPr sz="1800" dirty="0">
                <a:solidFill>
                  <a:srgbClr val="595959"/>
                </a:solidFill>
                <a:latin typeface="Times New Roman" panose="02020603050405020304"/>
                <a:cs typeface="Times New Roman" panose="02020603050405020304"/>
              </a:rPr>
              <a:t>Contributes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to</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sustainable</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and</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resilient</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cities</a:t>
            </a:r>
            <a:r>
              <a:rPr sz="1800" spc="-4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through</a:t>
            </a:r>
            <a:r>
              <a:rPr sz="1800" spc="-35" dirty="0">
                <a:solidFill>
                  <a:srgbClr val="595959"/>
                </a:solidFill>
                <a:latin typeface="Times New Roman" panose="02020603050405020304"/>
                <a:cs typeface="Times New Roman" panose="02020603050405020304"/>
              </a:rPr>
              <a:t> </a:t>
            </a:r>
            <a:r>
              <a:rPr sz="1800" dirty="0">
                <a:solidFill>
                  <a:srgbClr val="595959"/>
                </a:solidFill>
                <a:latin typeface="Times New Roman" panose="02020603050405020304"/>
                <a:cs typeface="Times New Roman" panose="02020603050405020304"/>
              </a:rPr>
              <a:t>advanced</a:t>
            </a:r>
            <a:r>
              <a:rPr sz="1800" spc="-40"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surveillance</a:t>
            </a:r>
            <a:r>
              <a:rPr sz="1800" spc="-45" dirty="0">
                <a:solidFill>
                  <a:srgbClr val="595959"/>
                </a:solidFill>
                <a:latin typeface="Times New Roman" panose="02020603050405020304"/>
                <a:cs typeface="Times New Roman" panose="02020603050405020304"/>
              </a:rPr>
              <a:t> </a:t>
            </a:r>
            <a:r>
              <a:rPr sz="1800" spc="-10" dirty="0">
                <a:solidFill>
                  <a:srgbClr val="595959"/>
                </a:solidFill>
                <a:latin typeface="Times New Roman" panose="02020603050405020304"/>
                <a:cs typeface="Times New Roman" panose="02020603050405020304"/>
              </a:rPr>
              <a:t>technology</a:t>
            </a:r>
            <a:r>
              <a:rPr sz="1800" spc="-10" dirty="0">
                <a:solidFill>
                  <a:srgbClr val="595959"/>
                </a:solidFill>
                <a:latin typeface="Arial MT"/>
                <a:cs typeface="Arial MT"/>
              </a:rPr>
              <a:t>.</a:t>
            </a:r>
            <a:endParaRPr sz="1800">
              <a:latin typeface="Arial MT"/>
              <a:cs typeface="Arial MT"/>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70" y="1676387"/>
            <a:ext cx="10549890" cy="519430"/>
          </a:xfrm>
          <a:prstGeom prst="rect">
            <a:avLst/>
          </a:prstGeom>
        </p:spPr>
        <p:txBody>
          <a:bodyPr vert="horz" wrap="square" lIns="0" tIns="12700" rIns="0" bIns="0" rtlCol="0">
            <a:spAutoFit/>
          </a:bodyPr>
          <a:lstStyle/>
          <a:p>
            <a:pPr marL="2877185">
              <a:lnSpc>
                <a:spcPct val="100000"/>
              </a:lnSpc>
              <a:spcBef>
                <a:spcPts val="100"/>
              </a:spcBef>
            </a:pPr>
            <a:r>
              <a:rPr dirty="0"/>
              <a:t>Design&amp;Module</a:t>
            </a:r>
            <a:r>
              <a:rPr spc="-75" dirty="0"/>
              <a:t> </a:t>
            </a:r>
            <a:r>
              <a:rPr spc="-10" dirty="0"/>
              <a:t>Planning</a:t>
            </a:r>
            <a:endParaRPr spc="-10" dirty="0"/>
          </a:p>
        </p:txBody>
      </p:sp>
      <p:sp>
        <p:nvSpPr>
          <p:cNvPr id="3" name="object 3"/>
          <p:cNvSpPr txBox="1">
            <a:spLocks noGrp="1"/>
          </p:cNvSpPr>
          <p:nvPr>
            <p:ph type="body" idx="1"/>
          </p:nvPr>
        </p:nvSpPr>
        <p:spPr>
          <a:xfrm>
            <a:off x="655067" y="2057454"/>
            <a:ext cx="9924415" cy="3992879"/>
          </a:xfrm>
          <a:prstGeom prst="rect">
            <a:avLst/>
          </a:prstGeom>
        </p:spPr>
        <p:txBody>
          <a:bodyPr vert="horz" wrap="square" lIns="0" tIns="871800" rIns="0" bIns="0" rtlCol="0">
            <a:spAutoFit/>
          </a:bodyPr>
          <a:lstStyle/>
          <a:p>
            <a:pPr marL="654050">
              <a:lnSpc>
                <a:spcPct val="100000"/>
              </a:lnSpc>
              <a:spcBef>
                <a:spcPts val="100"/>
              </a:spcBef>
            </a:pPr>
            <a:r>
              <a:rPr dirty="0"/>
              <a:t>Module</a:t>
            </a:r>
            <a:r>
              <a:rPr spc="-20" dirty="0"/>
              <a:t> </a:t>
            </a:r>
            <a:r>
              <a:rPr dirty="0"/>
              <a:t>1:</a:t>
            </a:r>
            <a:r>
              <a:rPr spc="-45" dirty="0"/>
              <a:t> </a:t>
            </a:r>
            <a:r>
              <a:rPr spc="-30" dirty="0"/>
              <a:t>Video</a:t>
            </a:r>
            <a:r>
              <a:rPr spc="-110" dirty="0"/>
              <a:t> </a:t>
            </a:r>
            <a:r>
              <a:rPr dirty="0"/>
              <a:t>Acquisition</a:t>
            </a:r>
            <a:r>
              <a:rPr spc="-5" dirty="0"/>
              <a:t> </a:t>
            </a:r>
            <a:r>
              <a:rPr dirty="0"/>
              <a:t>and</a:t>
            </a:r>
            <a:r>
              <a:rPr spc="-5" dirty="0"/>
              <a:t> </a:t>
            </a:r>
            <a:r>
              <a:rPr dirty="0"/>
              <a:t>Image</a:t>
            </a:r>
            <a:r>
              <a:rPr spc="-10" dirty="0"/>
              <a:t> Preprocessing</a:t>
            </a:r>
            <a:endParaRPr spc="-10" dirty="0"/>
          </a:p>
          <a:p>
            <a:pPr marL="654050">
              <a:lnSpc>
                <a:spcPct val="100000"/>
              </a:lnSpc>
              <a:spcBef>
                <a:spcPts val="1720"/>
              </a:spcBef>
            </a:pPr>
            <a:r>
              <a:rPr dirty="0"/>
              <a:t>Module</a:t>
            </a:r>
            <a:r>
              <a:rPr spc="-15" dirty="0"/>
              <a:t> </a:t>
            </a:r>
            <a:r>
              <a:rPr dirty="0"/>
              <a:t>2:</a:t>
            </a:r>
            <a:r>
              <a:rPr spc="-15" dirty="0"/>
              <a:t> </a:t>
            </a:r>
            <a:r>
              <a:rPr dirty="0"/>
              <a:t>Human</a:t>
            </a:r>
            <a:r>
              <a:rPr spc="-10" dirty="0"/>
              <a:t> </a:t>
            </a:r>
            <a:r>
              <a:rPr dirty="0"/>
              <a:t>Detection</a:t>
            </a:r>
            <a:r>
              <a:rPr spc="-10" dirty="0"/>
              <a:t> </a:t>
            </a:r>
            <a:r>
              <a:rPr dirty="0"/>
              <a:t>and</a:t>
            </a:r>
            <a:r>
              <a:rPr spc="-15" dirty="0"/>
              <a:t> </a:t>
            </a:r>
            <a:r>
              <a:rPr dirty="0"/>
              <a:t>Feature</a:t>
            </a:r>
            <a:r>
              <a:rPr spc="-10" dirty="0"/>
              <a:t> Extraction</a:t>
            </a:r>
            <a:endParaRPr spc="-10" dirty="0"/>
          </a:p>
          <a:p>
            <a:pPr marL="654050" marR="5080">
              <a:lnSpc>
                <a:spcPct val="172000"/>
              </a:lnSpc>
            </a:pPr>
            <a:r>
              <a:rPr dirty="0"/>
              <a:t>Module</a:t>
            </a:r>
            <a:r>
              <a:rPr spc="-25" dirty="0"/>
              <a:t> </a:t>
            </a:r>
            <a:r>
              <a:rPr dirty="0"/>
              <a:t>3:</a:t>
            </a:r>
            <a:r>
              <a:rPr spc="-25" dirty="0"/>
              <a:t> </a:t>
            </a:r>
            <a:r>
              <a:rPr dirty="0"/>
              <a:t>Crowd</a:t>
            </a:r>
            <a:r>
              <a:rPr spc="-20" dirty="0"/>
              <a:t> </a:t>
            </a:r>
            <a:r>
              <a:rPr dirty="0"/>
              <a:t>Density</a:t>
            </a:r>
            <a:r>
              <a:rPr spc="-20" dirty="0"/>
              <a:t> </a:t>
            </a:r>
            <a:r>
              <a:rPr dirty="0"/>
              <a:t>Estimation</a:t>
            </a:r>
            <a:r>
              <a:rPr spc="-20" dirty="0"/>
              <a:t> </a:t>
            </a:r>
            <a:r>
              <a:rPr dirty="0"/>
              <a:t>Using</a:t>
            </a:r>
            <a:r>
              <a:rPr spc="-20" dirty="0"/>
              <a:t> </a:t>
            </a:r>
            <a:r>
              <a:rPr dirty="0"/>
              <a:t>Radial</a:t>
            </a:r>
            <a:r>
              <a:rPr spc="-25" dirty="0"/>
              <a:t> </a:t>
            </a:r>
            <a:r>
              <a:rPr dirty="0"/>
              <a:t>Basis</a:t>
            </a:r>
            <a:r>
              <a:rPr spc="-25" dirty="0"/>
              <a:t> </a:t>
            </a:r>
            <a:r>
              <a:rPr dirty="0"/>
              <a:t>Function</a:t>
            </a:r>
            <a:r>
              <a:rPr spc="-20" dirty="0"/>
              <a:t> </a:t>
            </a:r>
            <a:r>
              <a:rPr dirty="0"/>
              <a:t>Network</a:t>
            </a:r>
            <a:r>
              <a:rPr spc="-20" dirty="0"/>
              <a:t> </a:t>
            </a:r>
            <a:r>
              <a:rPr spc="-10" dirty="0"/>
              <a:t>(RBFN) </a:t>
            </a:r>
            <a:r>
              <a:rPr dirty="0"/>
              <a:t>Module</a:t>
            </a:r>
            <a:r>
              <a:rPr spc="-15" dirty="0"/>
              <a:t> </a:t>
            </a:r>
            <a:r>
              <a:rPr dirty="0"/>
              <a:t>4:</a:t>
            </a:r>
            <a:r>
              <a:rPr spc="-125" dirty="0"/>
              <a:t> </a:t>
            </a:r>
            <a:r>
              <a:rPr dirty="0"/>
              <a:t>Anomaly</a:t>
            </a:r>
            <a:r>
              <a:rPr spc="-5" dirty="0"/>
              <a:t> </a:t>
            </a:r>
            <a:r>
              <a:rPr dirty="0"/>
              <a:t>Detection</a:t>
            </a:r>
            <a:r>
              <a:rPr spc="-10" dirty="0"/>
              <a:t> </a:t>
            </a:r>
            <a:r>
              <a:rPr dirty="0"/>
              <a:t>and</a:t>
            </a:r>
            <a:r>
              <a:rPr spc="-120" dirty="0"/>
              <a:t> </a:t>
            </a:r>
            <a:r>
              <a:rPr dirty="0"/>
              <a:t>Alert</a:t>
            </a:r>
            <a:r>
              <a:rPr spc="-10" dirty="0"/>
              <a:t> Generation</a:t>
            </a:r>
            <a:endParaRPr spc="-10" dirty="0"/>
          </a:p>
          <a:p>
            <a:pPr marL="654050">
              <a:lnSpc>
                <a:spcPct val="100000"/>
              </a:lnSpc>
              <a:spcBef>
                <a:spcPts val="1720"/>
              </a:spcBef>
            </a:pPr>
            <a:r>
              <a:rPr dirty="0"/>
              <a:t>Module</a:t>
            </a:r>
            <a:r>
              <a:rPr spc="-15" dirty="0"/>
              <a:t> </a:t>
            </a:r>
            <a:r>
              <a:rPr dirty="0"/>
              <a:t>5:</a:t>
            </a:r>
            <a:r>
              <a:rPr spc="-15" dirty="0"/>
              <a:t> </a:t>
            </a:r>
            <a:r>
              <a:rPr dirty="0"/>
              <a:t>Dashboard,</a:t>
            </a:r>
            <a:r>
              <a:rPr spc="-50" dirty="0"/>
              <a:t> </a:t>
            </a:r>
            <a:r>
              <a:rPr spc="-10" dirty="0"/>
              <a:t>Visualization </a:t>
            </a:r>
            <a:r>
              <a:rPr dirty="0"/>
              <a:t>and</a:t>
            </a:r>
            <a:r>
              <a:rPr spc="-10" dirty="0"/>
              <a:t> </a:t>
            </a:r>
            <a:r>
              <a:rPr dirty="0"/>
              <a:t>Report</a:t>
            </a:r>
            <a:r>
              <a:rPr spc="-15" dirty="0"/>
              <a:t> </a:t>
            </a:r>
            <a:r>
              <a:rPr spc="-10" dirty="0"/>
              <a:t>Generation</a:t>
            </a:r>
            <a:endParaRPr spc="-10" dirty="0"/>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70" y="1523987"/>
            <a:ext cx="10549890" cy="519430"/>
          </a:xfrm>
          <a:prstGeom prst="rect">
            <a:avLst/>
          </a:prstGeom>
        </p:spPr>
        <p:txBody>
          <a:bodyPr vert="horz" wrap="square" lIns="0" tIns="17780" rIns="0" bIns="0" rtlCol="0">
            <a:spAutoFit/>
          </a:bodyPr>
          <a:lstStyle/>
          <a:p>
            <a:pPr marL="12700">
              <a:lnSpc>
                <a:spcPct val="100000"/>
              </a:lnSpc>
              <a:spcBef>
                <a:spcPts val="140"/>
              </a:spcBef>
            </a:pPr>
            <a:r>
              <a:rPr sz="3200" dirty="0"/>
              <a:t>Module</a:t>
            </a:r>
            <a:r>
              <a:rPr sz="3200" spc="60" dirty="0"/>
              <a:t> </a:t>
            </a:r>
            <a:r>
              <a:rPr sz="3200" dirty="0"/>
              <a:t>1: </a:t>
            </a:r>
            <a:r>
              <a:rPr sz="3200" spc="-10" dirty="0"/>
              <a:t>Video</a:t>
            </a:r>
            <a:r>
              <a:rPr sz="3200" spc="-125" dirty="0"/>
              <a:t> </a:t>
            </a:r>
            <a:r>
              <a:rPr sz="3200" dirty="0"/>
              <a:t>Acquisition</a:t>
            </a:r>
            <a:r>
              <a:rPr sz="3200" spc="65" dirty="0"/>
              <a:t> </a:t>
            </a:r>
            <a:r>
              <a:rPr sz="3200" dirty="0"/>
              <a:t>and</a:t>
            </a:r>
            <a:r>
              <a:rPr sz="3200" spc="60" dirty="0"/>
              <a:t> </a:t>
            </a:r>
            <a:r>
              <a:rPr sz="3200" dirty="0"/>
              <a:t>Image</a:t>
            </a:r>
            <a:r>
              <a:rPr sz="3200" spc="60" dirty="0"/>
              <a:t> </a:t>
            </a:r>
            <a:r>
              <a:rPr sz="3200" spc="-10" dirty="0"/>
              <a:t>Preprocessing</a:t>
            </a:r>
            <a:endParaRPr sz="3200"/>
          </a:p>
        </p:txBody>
      </p:sp>
      <p:sp>
        <p:nvSpPr>
          <p:cNvPr id="3" name="object 3"/>
          <p:cNvSpPr txBox="1"/>
          <p:nvPr/>
        </p:nvSpPr>
        <p:spPr>
          <a:xfrm>
            <a:off x="609347" y="2438454"/>
            <a:ext cx="10732135" cy="3813810"/>
          </a:xfrm>
          <a:prstGeom prst="rect">
            <a:avLst/>
          </a:prstGeom>
        </p:spPr>
        <p:txBody>
          <a:bodyPr vert="horz" wrap="square" lIns="0" tIns="12700" rIns="0" bIns="0" rtlCol="0">
            <a:spAutoFit/>
          </a:bodyPr>
          <a:lstStyle/>
          <a:p>
            <a:pPr marL="38735" marR="5080" algn="just">
              <a:lnSpc>
                <a:spcPct val="130000"/>
              </a:lnSpc>
              <a:spcBef>
                <a:spcPts val="100"/>
              </a:spcBef>
            </a:pPr>
            <a:r>
              <a:rPr sz="2000" dirty="0">
                <a:solidFill>
                  <a:srgbClr val="595959"/>
                </a:solidFill>
                <a:latin typeface="Times New Roman" panose="02020603050405020304"/>
                <a:cs typeface="Times New Roman" panose="02020603050405020304"/>
              </a:rPr>
              <a:t>This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module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responsible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capturing</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live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CCTV</a:t>
            </a:r>
            <a:r>
              <a:rPr sz="2000" spc="-6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recorded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converting</a:t>
            </a:r>
            <a:r>
              <a:rPr sz="2000" spc="-20" dirty="0">
                <a:solidFill>
                  <a:srgbClr val="595959"/>
                </a:solidFill>
                <a:latin typeface="Times New Roman" panose="02020603050405020304"/>
                <a:cs typeface="Times New Roman" panose="02020603050405020304"/>
              </a:rPr>
              <a:t> them </a:t>
            </a:r>
            <a:r>
              <a:rPr sz="2000" dirty="0">
                <a:solidFill>
                  <a:srgbClr val="595959"/>
                </a:solidFill>
                <a:latin typeface="Times New Roman" panose="02020603050405020304"/>
                <a:cs typeface="Times New Roman" panose="02020603050405020304"/>
              </a:rPr>
              <a:t>into</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individual</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frames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analysis.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Using</a:t>
            </a:r>
            <a:r>
              <a:rPr sz="2000" spc="-20" dirty="0">
                <a:solidFill>
                  <a:srgbClr val="595959"/>
                </a:solidFill>
                <a:latin typeface="Times New Roman" panose="02020603050405020304"/>
                <a:cs typeface="Times New Roman" panose="02020603050405020304"/>
              </a:rPr>
              <a:t> </a:t>
            </a:r>
            <a:r>
              <a:rPr sz="2000" spc="-40" dirty="0">
                <a:solidFill>
                  <a:srgbClr val="595959"/>
                </a:solidFill>
                <a:latin typeface="Times New Roman" panose="02020603050405020304"/>
                <a:cs typeface="Times New Roman" panose="02020603050405020304"/>
              </a:rPr>
              <a:t>OpenCV,</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system</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performs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image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preprocessing</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techniques </a:t>
            </a:r>
            <a:r>
              <a:rPr sz="2000" dirty="0">
                <a:solidFill>
                  <a:srgbClr val="595959"/>
                </a:solidFill>
                <a:latin typeface="Times New Roman" panose="02020603050405020304"/>
                <a:cs typeface="Times New Roman" panose="02020603050405020304"/>
              </a:rPr>
              <a:t>such</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resizing,</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noise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removal,</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brightness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adjustment,</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normalization</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improve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image</a:t>
            </a:r>
            <a:r>
              <a:rPr sz="2000" spc="-10" dirty="0">
                <a:solidFill>
                  <a:srgbClr val="595959"/>
                </a:solidFill>
                <a:latin typeface="Times New Roman" panose="02020603050405020304"/>
                <a:cs typeface="Times New Roman" panose="02020603050405020304"/>
              </a:rPr>
              <a:t> quality.</a:t>
            </a:r>
            <a:endParaRPr sz="2000">
              <a:latin typeface="Times New Roman" panose="02020603050405020304"/>
              <a:cs typeface="Times New Roman" panose="02020603050405020304"/>
            </a:endParaRPr>
          </a:p>
          <a:p>
            <a:pPr marL="38735" algn="just">
              <a:lnSpc>
                <a:spcPct val="100000"/>
              </a:lnSpc>
              <a:spcBef>
                <a:spcPts val="720"/>
              </a:spcBef>
            </a:pPr>
            <a:r>
              <a:rPr sz="2000" dirty="0">
                <a:solidFill>
                  <a:srgbClr val="595959"/>
                </a:solidFill>
                <a:latin typeface="Times New Roman" panose="02020603050405020304"/>
                <a:cs typeface="Times New Roman" panose="02020603050405020304"/>
              </a:rPr>
              <a:t>Proper</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preprocessing</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helps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increase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accuracy</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of</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human</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detection</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analysis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later</a:t>
            </a:r>
            <a:r>
              <a:rPr sz="2000" spc="-10" dirty="0">
                <a:solidFill>
                  <a:srgbClr val="595959"/>
                </a:solidFill>
                <a:latin typeface="Times New Roman" panose="02020603050405020304"/>
                <a:cs typeface="Times New Roman" panose="02020603050405020304"/>
              </a:rPr>
              <a:t> stages.</a:t>
            </a:r>
            <a:endParaRPr sz="2000">
              <a:latin typeface="Times New Roman" panose="02020603050405020304"/>
              <a:cs typeface="Times New Roman" panose="02020603050405020304"/>
            </a:endParaRPr>
          </a:p>
          <a:p>
            <a:pPr>
              <a:lnSpc>
                <a:spcPct val="100000"/>
              </a:lnSpc>
            </a:pPr>
            <a:endParaRPr sz="2000">
              <a:latin typeface="Times New Roman" panose="02020603050405020304"/>
              <a:cs typeface="Times New Roman" panose="02020603050405020304"/>
            </a:endParaRPr>
          </a:p>
          <a:p>
            <a:pPr marL="266065" indent="-260350">
              <a:lnSpc>
                <a:spcPct val="100000"/>
              </a:lnSpc>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Capture</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live</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CCTV</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or</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recorded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videos.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Extract</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preprocess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frames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using</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OpenCV.</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Remove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noise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enhance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image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quality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better</a:t>
            </a:r>
            <a:r>
              <a:rPr sz="2000" spc="-10" dirty="0">
                <a:solidFill>
                  <a:srgbClr val="595959"/>
                </a:solidFill>
                <a:latin typeface="Times New Roman" panose="02020603050405020304"/>
                <a:cs typeface="Times New Roman" panose="02020603050405020304"/>
              </a:rPr>
              <a:t> analysis</a:t>
            </a:r>
            <a:r>
              <a:rPr lang="en-US" altLang="" sz="2000" spc="-10" dirty="0">
                <a:solidFill>
                  <a:srgbClr val="595959"/>
                </a:solidFill>
                <a:latin typeface="Times New Roman" panose="02020603050405020304"/>
                <a:cs typeface="Times New Roman" panose="02020603050405020304"/>
              </a:rPr>
              <a:t> and converting to radial images</a:t>
            </a:r>
            <a:r>
              <a:rPr sz="2000" spc="-10" dirty="0">
                <a:solidFill>
                  <a:srgbClr val="595959"/>
                </a:solidFill>
                <a:latin typeface="Times New Roman" panose="02020603050405020304"/>
                <a:cs typeface="Times New Roman" panose="02020603050405020304"/>
              </a:rPr>
              <a:t>.</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Prepare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high-quality</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input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data</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next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processing</a:t>
            </a:r>
            <a:r>
              <a:rPr sz="2000" spc="-10" dirty="0">
                <a:solidFill>
                  <a:srgbClr val="595959"/>
                </a:solidFill>
                <a:latin typeface="Times New Roman" panose="02020603050405020304"/>
                <a:cs typeface="Times New Roman" panose="02020603050405020304"/>
              </a:rPr>
              <a:t> stage.</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mod1"/>
          <p:cNvPicPr>
            <a:picLocks noChangeAspect="1"/>
          </p:cNvPicPr>
          <p:nvPr/>
        </p:nvPicPr>
        <p:blipFill>
          <a:blip r:embed="rId1"/>
          <a:stretch>
            <a:fillRect/>
          </a:stretch>
        </p:blipFill>
        <p:spPr>
          <a:xfrm>
            <a:off x="990600" y="381000"/>
            <a:ext cx="9531985" cy="58058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70" y="1676387"/>
            <a:ext cx="10549890" cy="519430"/>
          </a:xfrm>
          <a:prstGeom prst="rect">
            <a:avLst/>
          </a:prstGeom>
        </p:spPr>
        <p:txBody>
          <a:bodyPr vert="horz" wrap="square" lIns="0" tIns="17780" rIns="0" bIns="0" rtlCol="0">
            <a:spAutoFit/>
          </a:bodyPr>
          <a:lstStyle/>
          <a:p>
            <a:pPr marL="12700">
              <a:lnSpc>
                <a:spcPct val="100000"/>
              </a:lnSpc>
              <a:spcBef>
                <a:spcPts val="140"/>
              </a:spcBef>
            </a:pPr>
            <a:r>
              <a:rPr sz="3200" dirty="0"/>
              <a:t>Module</a:t>
            </a:r>
            <a:r>
              <a:rPr sz="3200" spc="55" dirty="0"/>
              <a:t> </a:t>
            </a:r>
            <a:r>
              <a:rPr sz="3200" dirty="0"/>
              <a:t>2:</a:t>
            </a:r>
            <a:r>
              <a:rPr sz="3200" spc="65" dirty="0"/>
              <a:t> </a:t>
            </a:r>
            <a:r>
              <a:rPr sz="3200" dirty="0"/>
              <a:t>Human</a:t>
            </a:r>
            <a:r>
              <a:rPr sz="3200" spc="60" dirty="0"/>
              <a:t> </a:t>
            </a:r>
            <a:r>
              <a:rPr sz="3200" dirty="0"/>
              <a:t>Detection</a:t>
            </a:r>
            <a:r>
              <a:rPr sz="3200" spc="60" dirty="0"/>
              <a:t> </a:t>
            </a:r>
            <a:r>
              <a:rPr sz="3200" dirty="0"/>
              <a:t>and</a:t>
            </a:r>
            <a:r>
              <a:rPr sz="3200" spc="55" dirty="0"/>
              <a:t> </a:t>
            </a:r>
            <a:r>
              <a:rPr sz="3200" dirty="0"/>
              <a:t>Feature</a:t>
            </a:r>
            <a:r>
              <a:rPr sz="3200" spc="60" dirty="0"/>
              <a:t> </a:t>
            </a:r>
            <a:r>
              <a:rPr sz="3200" spc="-10" dirty="0"/>
              <a:t>Extraction</a:t>
            </a:r>
            <a:endParaRPr sz="3200"/>
          </a:p>
        </p:txBody>
      </p:sp>
      <p:sp>
        <p:nvSpPr>
          <p:cNvPr id="3" name="object 3"/>
          <p:cNvSpPr txBox="1"/>
          <p:nvPr/>
        </p:nvSpPr>
        <p:spPr>
          <a:xfrm>
            <a:off x="609347" y="2362254"/>
            <a:ext cx="10619740" cy="4226560"/>
          </a:xfrm>
          <a:prstGeom prst="rect">
            <a:avLst/>
          </a:prstGeom>
        </p:spPr>
        <p:txBody>
          <a:bodyPr vert="horz" wrap="square" lIns="0" tIns="12700" rIns="0" bIns="0" rtlCol="0">
            <a:spAutoFit/>
          </a:bodyPr>
          <a:lstStyle/>
          <a:p>
            <a:pPr marL="38735" marR="5080">
              <a:lnSpc>
                <a:spcPct val="130000"/>
              </a:lnSpc>
              <a:spcBef>
                <a:spcPts val="100"/>
              </a:spcBef>
            </a:pPr>
            <a:r>
              <a:rPr sz="2000" dirty="0">
                <a:solidFill>
                  <a:srgbClr val="595959"/>
                </a:solidFill>
                <a:latin typeface="Times New Roman" panose="02020603050405020304"/>
                <a:cs typeface="Times New Roman" panose="02020603050405020304"/>
              </a:rPr>
              <a:t>This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module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detects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people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present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each</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frame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using</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computer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vision</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techniques.</a:t>
            </a:r>
            <a:r>
              <a:rPr sz="2000" spc="-114"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After </a:t>
            </a:r>
            <a:r>
              <a:rPr sz="2000" dirty="0">
                <a:solidFill>
                  <a:srgbClr val="595959"/>
                </a:solidFill>
                <a:latin typeface="Times New Roman" panose="02020603050405020304"/>
                <a:cs typeface="Times New Roman" panose="02020603050405020304"/>
              </a:rPr>
              <a:t>detection,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important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features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such</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as</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number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of</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people,</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their</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positions,</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patterns,</a:t>
            </a:r>
            <a:r>
              <a:rPr sz="2000" spc="-5" dirty="0">
                <a:solidFill>
                  <a:srgbClr val="595959"/>
                </a:solidFill>
                <a:latin typeface="Times New Roman" panose="02020603050405020304"/>
                <a:cs typeface="Times New Roman" panose="02020603050405020304"/>
              </a:rPr>
              <a:t> </a:t>
            </a:r>
            <a:r>
              <a:rPr sz="2000" spc="-25" dirty="0">
                <a:solidFill>
                  <a:srgbClr val="595959"/>
                </a:solidFill>
                <a:latin typeface="Times New Roman" panose="02020603050405020304"/>
                <a:cs typeface="Times New Roman" panose="02020603050405020304"/>
              </a:rPr>
              <a:t>and </a:t>
            </a:r>
            <a:r>
              <a:rPr sz="2000" dirty="0">
                <a:solidFill>
                  <a:srgbClr val="595959"/>
                </a:solidFill>
                <a:latin typeface="Times New Roman" panose="02020603050405020304"/>
                <a:cs typeface="Times New Roman" panose="02020603050405020304"/>
              </a:rPr>
              <a:t>spatial</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information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are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extracted.</a:t>
            </a:r>
            <a:r>
              <a:rPr sz="2000" spc="-6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These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features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are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used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by</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RBFN</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model</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estimate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density accurately.</a:t>
            </a:r>
            <a:endParaRPr sz="2000">
              <a:latin typeface="Times New Roman" panose="02020603050405020304"/>
              <a:cs typeface="Times New Roman" panose="02020603050405020304"/>
            </a:endParaRPr>
          </a:p>
          <a:p>
            <a:pPr>
              <a:lnSpc>
                <a:spcPct val="100000"/>
              </a:lnSpc>
            </a:pPr>
            <a:endParaRPr sz="2000">
              <a:latin typeface="Times New Roman" panose="02020603050405020304"/>
              <a:cs typeface="Times New Roman" panose="02020603050405020304"/>
            </a:endParaRPr>
          </a:p>
          <a:p>
            <a:pPr>
              <a:lnSpc>
                <a:spcPct val="100000"/>
              </a:lnSpc>
              <a:spcBef>
                <a:spcPts val="1240"/>
              </a:spcBef>
            </a:pPr>
            <a:endParaRPr sz="2000">
              <a:latin typeface="Times New Roman" panose="02020603050405020304"/>
              <a:cs typeface="Times New Roman" panose="02020603050405020304"/>
            </a:endParaRPr>
          </a:p>
          <a:p>
            <a:pPr marL="266065" indent="-260350">
              <a:lnSpc>
                <a:spcPct val="100000"/>
              </a:lnSpc>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Detect</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human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objects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from</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frames.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Extract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position,</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crowd-related</a:t>
            </a:r>
            <a:r>
              <a:rPr sz="2000" spc="-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features.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Count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number</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of</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people</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each</a:t>
            </a:r>
            <a:r>
              <a:rPr sz="2000" spc="-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frame.</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Prepare</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extracted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features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estimation</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moddyu2"/>
          <p:cNvPicPr>
            <a:picLocks noChangeAspect="1"/>
          </p:cNvPicPr>
          <p:nvPr/>
        </p:nvPicPr>
        <p:blipFill>
          <a:blip r:embed="rId1"/>
          <a:stretch>
            <a:fillRect/>
          </a:stretch>
        </p:blipFill>
        <p:spPr>
          <a:xfrm>
            <a:off x="1676400" y="838200"/>
            <a:ext cx="8853170" cy="5461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70" y="1828915"/>
            <a:ext cx="10817860" cy="2586355"/>
          </a:xfrm>
          <a:prstGeom prst="rect">
            <a:avLst/>
          </a:prstGeom>
        </p:spPr>
        <p:txBody>
          <a:bodyPr vert="horz" wrap="square" lIns="0" tIns="11430" rIns="0" bIns="0" rtlCol="0">
            <a:spAutoFit/>
          </a:bodyPr>
          <a:lstStyle/>
          <a:p>
            <a:pPr marL="12700" marR="854075">
              <a:lnSpc>
                <a:spcPct val="101000"/>
              </a:lnSpc>
              <a:spcBef>
                <a:spcPts val="90"/>
              </a:spcBef>
            </a:pPr>
            <a:r>
              <a:rPr sz="3200" dirty="0"/>
              <a:t>Module</a:t>
            </a:r>
            <a:r>
              <a:rPr sz="3200" spc="70" dirty="0"/>
              <a:t> </a:t>
            </a:r>
            <a:r>
              <a:rPr sz="3200" dirty="0"/>
              <a:t>3:</a:t>
            </a:r>
            <a:r>
              <a:rPr sz="3200" spc="75" dirty="0"/>
              <a:t> </a:t>
            </a:r>
            <a:r>
              <a:rPr sz="3200" dirty="0"/>
              <a:t>Crowd</a:t>
            </a:r>
            <a:r>
              <a:rPr sz="3200" spc="75" dirty="0"/>
              <a:t> </a:t>
            </a:r>
            <a:r>
              <a:rPr sz="3200" dirty="0"/>
              <a:t>Density</a:t>
            </a:r>
            <a:r>
              <a:rPr sz="3200" spc="75" dirty="0"/>
              <a:t> </a:t>
            </a:r>
            <a:r>
              <a:rPr sz="3200" dirty="0"/>
              <a:t>Estimation</a:t>
            </a:r>
            <a:r>
              <a:rPr sz="3200" spc="75" dirty="0"/>
              <a:t> </a:t>
            </a:r>
            <a:r>
              <a:rPr sz="3200" dirty="0"/>
              <a:t>Using</a:t>
            </a:r>
            <a:r>
              <a:rPr sz="3200" spc="75" dirty="0"/>
              <a:t> </a:t>
            </a:r>
            <a:r>
              <a:rPr sz="3200" dirty="0"/>
              <a:t>Radial</a:t>
            </a:r>
            <a:r>
              <a:rPr sz="3200" spc="75" dirty="0"/>
              <a:t> </a:t>
            </a:r>
            <a:r>
              <a:rPr sz="3200" spc="-10" dirty="0"/>
              <a:t>Basis </a:t>
            </a:r>
            <a:r>
              <a:rPr sz="3200" dirty="0"/>
              <a:t>Function</a:t>
            </a:r>
            <a:r>
              <a:rPr sz="3200" spc="90" dirty="0"/>
              <a:t> </a:t>
            </a:r>
            <a:r>
              <a:rPr sz="3200" dirty="0"/>
              <a:t>Network</a:t>
            </a:r>
            <a:r>
              <a:rPr sz="3200" spc="95" dirty="0"/>
              <a:t> </a:t>
            </a:r>
            <a:r>
              <a:rPr sz="3200" spc="-10" dirty="0"/>
              <a:t>(RBFN)</a:t>
            </a:r>
            <a:endParaRPr sz="3200"/>
          </a:p>
          <a:p>
            <a:pPr marL="12700" marR="5080" algn="just">
              <a:lnSpc>
                <a:spcPts val="3120"/>
              </a:lnSpc>
              <a:spcBef>
                <a:spcPts val="20"/>
              </a:spcBef>
            </a:pPr>
            <a:r>
              <a:rPr sz="2000" b="0" dirty="0">
                <a:solidFill>
                  <a:srgbClr val="595959"/>
                </a:solidFill>
                <a:latin typeface="Times New Roman" panose="02020603050405020304"/>
                <a:cs typeface="Times New Roman" panose="02020603050405020304"/>
              </a:rPr>
              <a:t>This</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module</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uses</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the</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Radial</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Basis</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Function</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Network</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(RBFN)</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to</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estimate</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crowd</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density</a:t>
            </a:r>
            <a:r>
              <a:rPr sz="2000" b="0" spc="229"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based</a:t>
            </a:r>
            <a:r>
              <a:rPr sz="2000" b="0" spc="23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on</a:t>
            </a:r>
            <a:r>
              <a:rPr sz="2000" b="0" spc="229" dirty="0">
                <a:solidFill>
                  <a:srgbClr val="595959"/>
                </a:solidFill>
                <a:latin typeface="Times New Roman" panose="02020603050405020304"/>
                <a:cs typeface="Times New Roman" panose="02020603050405020304"/>
              </a:rPr>
              <a:t> </a:t>
            </a:r>
            <a:r>
              <a:rPr sz="2000" b="0" spc="-25" dirty="0">
                <a:solidFill>
                  <a:srgbClr val="595959"/>
                </a:solidFill>
                <a:latin typeface="Times New Roman" panose="02020603050405020304"/>
                <a:cs typeface="Times New Roman" panose="02020603050405020304"/>
              </a:rPr>
              <a:t>the </a:t>
            </a:r>
            <a:r>
              <a:rPr sz="2000" b="0" dirty="0">
                <a:solidFill>
                  <a:srgbClr val="595959"/>
                </a:solidFill>
                <a:latin typeface="Times New Roman" panose="02020603050405020304"/>
                <a:cs typeface="Times New Roman" panose="02020603050405020304"/>
              </a:rPr>
              <a:t>extracted</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features.</a:t>
            </a:r>
            <a:r>
              <a:rPr sz="2000" b="0" spc="33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The</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trained</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model</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analyzes</a:t>
            </a:r>
            <a:r>
              <a:rPr sz="2000" b="0" spc="36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crowd</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characteristics</a:t>
            </a:r>
            <a:r>
              <a:rPr sz="2000" b="0" spc="36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and</a:t>
            </a:r>
            <a:r>
              <a:rPr sz="2000" b="0" spc="36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classifies</a:t>
            </a:r>
            <a:r>
              <a:rPr sz="2000" b="0" spc="36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density</a:t>
            </a:r>
            <a:r>
              <a:rPr sz="2000" b="0" spc="365"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into</a:t>
            </a:r>
            <a:r>
              <a:rPr sz="2000" b="0" spc="360" dirty="0">
                <a:solidFill>
                  <a:srgbClr val="595959"/>
                </a:solidFill>
                <a:latin typeface="Times New Roman" panose="02020603050405020304"/>
                <a:cs typeface="Times New Roman" panose="02020603050405020304"/>
              </a:rPr>
              <a:t> </a:t>
            </a:r>
            <a:r>
              <a:rPr sz="2000" b="0" spc="-20" dirty="0">
                <a:solidFill>
                  <a:srgbClr val="595959"/>
                </a:solidFill>
                <a:latin typeface="Times New Roman" panose="02020603050405020304"/>
                <a:cs typeface="Times New Roman" panose="02020603050405020304"/>
              </a:rPr>
              <a:t>Low, </a:t>
            </a:r>
            <a:r>
              <a:rPr sz="2000" b="0" dirty="0">
                <a:solidFill>
                  <a:srgbClr val="595959"/>
                </a:solidFill>
                <a:latin typeface="Times New Roman" panose="02020603050405020304"/>
                <a:cs typeface="Times New Roman" panose="02020603050405020304"/>
              </a:rPr>
              <a:t>Medium,</a:t>
            </a:r>
            <a:r>
              <a:rPr sz="2000" b="0" spc="43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or</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High</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levels.</a:t>
            </a:r>
            <a:r>
              <a:rPr sz="2000" b="0" spc="40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The</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results</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are</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displayed</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in</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real</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time</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for</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effective</a:t>
            </a:r>
            <a:r>
              <a:rPr sz="2000" b="0" spc="430"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crowd</a:t>
            </a:r>
            <a:r>
              <a:rPr sz="2000" b="0" spc="434" dirty="0">
                <a:solidFill>
                  <a:srgbClr val="595959"/>
                </a:solidFill>
                <a:latin typeface="Times New Roman" panose="02020603050405020304"/>
                <a:cs typeface="Times New Roman" panose="02020603050405020304"/>
              </a:rPr>
              <a:t> </a:t>
            </a:r>
            <a:r>
              <a:rPr sz="2000" b="0" dirty="0">
                <a:solidFill>
                  <a:srgbClr val="595959"/>
                </a:solidFill>
                <a:latin typeface="Times New Roman" panose="02020603050405020304"/>
                <a:cs typeface="Times New Roman" panose="02020603050405020304"/>
              </a:rPr>
              <a:t>monitoring</a:t>
            </a:r>
            <a:r>
              <a:rPr sz="2000" b="0" spc="434" dirty="0">
                <a:solidFill>
                  <a:srgbClr val="595959"/>
                </a:solidFill>
                <a:latin typeface="Times New Roman" panose="02020603050405020304"/>
                <a:cs typeface="Times New Roman" panose="02020603050405020304"/>
              </a:rPr>
              <a:t> </a:t>
            </a:r>
            <a:r>
              <a:rPr sz="2000" b="0" spc="-25" dirty="0">
                <a:solidFill>
                  <a:srgbClr val="595959"/>
                </a:solidFill>
                <a:latin typeface="Times New Roman" panose="02020603050405020304"/>
                <a:cs typeface="Times New Roman" panose="02020603050405020304"/>
              </a:rPr>
              <a:t>and </a:t>
            </a:r>
            <a:r>
              <a:rPr sz="2000" b="0" spc="-10" dirty="0">
                <a:solidFill>
                  <a:srgbClr val="595959"/>
                </a:solidFill>
                <a:latin typeface="Times New Roman" panose="02020603050405020304"/>
                <a:cs typeface="Times New Roman" panose="02020603050405020304"/>
              </a:rPr>
              <a:t>management.</a:t>
            </a:r>
            <a:endParaRPr sz="2000">
              <a:latin typeface="Times New Roman" panose="02020603050405020304"/>
              <a:cs typeface="Times New Roman" panose="02020603050405020304"/>
            </a:endParaRPr>
          </a:p>
        </p:txBody>
      </p:sp>
      <p:sp>
        <p:nvSpPr>
          <p:cNvPr id="3" name="object 3"/>
          <p:cNvSpPr txBox="1"/>
          <p:nvPr/>
        </p:nvSpPr>
        <p:spPr>
          <a:xfrm>
            <a:off x="609347" y="4572054"/>
            <a:ext cx="6060440" cy="1899920"/>
          </a:xfrm>
          <a:prstGeom prst="rect">
            <a:avLst/>
          </a:prstGeom>
        </p:spPr>
        <p:txBody>
          <a:bodyPr vert="horz" wrap="square" lIns="0" tIns="12700" rIns="0" bIns="0" rtlCol="0">
            <a:spAutoFit/>
          </a:bodyPr>
          <a:lstStyle/>
          <a:p>
            <a:pPr marL="266065" indent="-260350">
              <a:lnSpc>
                <a:spcPct val="100000"/>
              </a:lnSpc>
              <a:spcBef>
                <a:spcPts val="10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Train</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test</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Radial</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Basis</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Function</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Network</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model.</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Estimate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from</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extracted</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features.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Classify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into</a:t>
            </a:r>
            <a:r>
              <a:rPr sz="2000" spc="-15" dirty="0">
                <a:solidFill>
                  <a:srgbClr val="595959"/>
                </a:solidFill>
                <a:latin typeface="Times New Roman" panose="02020603050405020304"/>
                <a:cs typeface="Times New Roman" panose="02020603050405020304"/>
              </a:rPr>
              <a:t> </a:t>
            </a:r>
            <a:r>
              <a:rPr sz="2000" spc="-20" dirty="0">
                <a:solidFill>
                  <a:srgbClr val="595959"/>
                </a:solidFill>
                <a:latin typeface="Times New Roman" panose="02020603050405020304"/>
                <a:cs typeface="Times New Roman" panose="02020603050405020304"/>
              </a:rPr>
              <a:t>Low,</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Medium,</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High</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levels.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Display</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accurate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results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real</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time.</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apture_20260831094155585"/>
          <p:cNvPicPr>
            <a:picLocks noChangeAspect="1"/>
          </p:cNvPicPr>
          <p:nvPr/>
        </p:nvPicPr>
        <p:blipFill>
          <a:blip r:embed="rId1"/>
          <a:stretch>
            <a:fillRect/>
          </a:stretch>
        </p:blipFill>
        <p:spPr>
          <a:xfrm>
            <a:off x="1676400" y="533400"/>
            <a:ext cx="9111615" cy="58007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70" y="1828787"/>
            <a:ext cx="10549890" cy="519430"/>
          </a:xfrm>
          <a:prstGeom prst="rect">
            <a:avLst/>
          </a:prstGeom>
        </p:spPr>
        <p:txBody>
          <a:bodyPr vert="horz" wrap="square" lIns="0" tIns="17780" rIns="0" bIns="0" rtlCol="0">
            <a:spAutoFit/>
          </a:bodyPr>
          <a:lstStyle/>
          <a:p>
            <a:pPr marL="12700">
              <a:lnSpc>
                <a:spcPct val="100000"/>
              </a:lnSpc>
              <a:spcBef>
                <a:spcPts val="140"/>
              </a:spcBef>
            </a:pPr>
            <a:r>
              <a:rPr sz="3200" dirty="0"/>
              <a:t>Module</a:t>
            </a:r>
            <a:r>
              <a:rPr sz="3200" spc="80" dirty="0"/>
              <a:t> </a:t>
            </a:r>
            <a:r>
              <a:rPr sz="3200" dirty="0"/>
              <a:t>4:</a:t>
            </a:r>
            <a:r>
              <a:rPr sz="3200" spc="-110" dirty="0"/>
              <a:t> </a:t>
            </a:r>
            <a:r>
              <a:rPr sz="3200" dirty="0"/>
              <a:t>Anomaly</a:t>
            </a:r>
            <a:r>
              <a:rPr sz="3200" spc="90" dirty="0"/>
              <a:t> </a:t>
            </a:r>
            <a:r>
              <a:rPr sz="3200" dirty="0"/>
              <a:t>Detection</a:t>
            </a:r>
            <a:r>
              <a:rPr sz="3200" spc="80" dirty="0"/>
              <a:t> </a:t>
            </a:r>
            <a:r>
              <a:rPr sz="3200" dirty="0"/>
              <a:t>and</a:t>
            </a:r>
            <a:r>
              <a:rPr sz="3200" spc="-105" dirty="0"/>
              <a:t> </a:t>
            </a:r>
            <a:r>
              <a:rPr sz="3200" dirty="0"/>
              <a:t>Alert</a:t>
            </a:r>
            <a:r>
              <a:rPr sz="3200" spc="85" dirty="0"/>
              <a:t> </a:t>
            </a:r>
            <a:r>
              <a:rPr sz="3200" spc="-10" dirty="0"/>
              <a:t>Generation</a:t>
            </a:r>
            <a:endParaRPr sz="3200"/>
          </a:p>
        </p:txBody>
      </p:sp>
      <p:sp>
        <p:nvSpPr>
          <p:cNvPr id="3" name="object 3"/>
          <p:cNvSpPr txBox="1"/>
          <p:nvPr/>
        </p:nvSpPr>
        <p:spPr>
          <a:xfrm>
            <a:off x="380747" y="2590854"/>
            <a:ext cx="10848975" cy="4226560"/>
          </a:xfrm>
          <a:prstGeom prst="rect">
            <a:avLst/>
          </a:prstGeom>
        </p:spPr>
        <p:txBody>
          <a:bodyPr vert="horz" wrap="square" lIns="0" tIns="12700" rIns="0" bIns="0" rtlCol="0">
            <a:spAutoFit/>
          </a:bodyPr>
          <a:lstStyle/>
          <a:p>
            <a:pPr marL="38735" marR="5080" algn="just">
              <a:lnSpc>
                <a:spcPct val="130000"/>
              </a:lnSpc>
              <a:spcBef>
                <a:spcPts val="100"/>
              </a:spcBef>
            </a:pPr>
            <a:r>
              <a:rPr sz="2000" dirty="0">
                <a:solidFill>
                  <a:srgbClr val="595959"/>
                </a:solidFill>
                <a:latin typeface="Times New Roman" panose="02020603050405020304"/>
                <a:cs typeface="Times New Roman" panose="02020603050405020304"/>
              </a:rPr>
              <a:t>This</a:t>
            </a:r>
            <a:r>
              <a:rPr sz="2000" spc="8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module</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continuously</a:t>
            </a:r>
            <a:r>
              <a:rPr sz="2000" spc="10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analyzes</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0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0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behavior</a:t>
            </a:r>
            <a:r>
              <a:rPr sz="2000" spc="10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10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detect</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abnormal</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situations</a:t>
            </a:r>
            <a:r>
              <a:rPr sz="2000" spc="9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such</a:t>
            </a:r>
            <a:r>
              <a:rPr sz="2000" spc="100" dirty="0">
                <a:solidFill>
                  <a:srgbClr val="595959"/>
                </a:solidFill>
                <a:latin typeface="Times New Roman" panose="02020603050405020304"/>
                <a:cs typeface="Times New Roman" panose="02020603050405020304"/>
              </a:rPr>
              <a:t> </a:t>
            </a:r>
            <a:r>
              <a:rPr sz="2000" spc="-25" dirty="0">
                <a:solidFill>
                  <a:srgbClr val="595959"/>
                </a:solidFill>
                <a:latin typeface="Times New Roman" panose="02020603050405020304"/>
                <a:cs typeface="Times New Roman" panose="02020603050405020304"/>
              </a:rPr>
              <a:t>as </a:t>
            </a:r>
            <a:r>
              <a:rPr sz="2000" dirty="0">
                <a:solidFill>
                  <a:srgbClr val="595959"/>
                </a:solidFill>
                <a:latin typeface="Times New Roman" panose="02020603050405020304"/>
                <a:cs typeface="Times New Roman" panose="02020603050405020304"/>
              </a:rPr>
              <a:t>overcrowding,</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sudden</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gatherings,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panic</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or</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restricted-</a:t>
            </a:r>
            <a:r>
              <a:rPr sz="2000" dirty="0">
                <a:solidFill>
                  <a:srgbClr val="595959"/>
                </a:solidFill>
                <a:latin typeface="Times New Roman" panose="02020603050405020304"/>
                <a:cs typeface="Times New Roman" panose="02020603050405020304"/>
              </a:rPr>
              <a:t>area</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intrusion. When</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unusual</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event</a:t>
            </a:r>
            <a:r>
              <a:rPr sz="2000" spc="30" dirty="0">
                <a:solidFill>
                  <a:srgbClr val="595959"/>
                </a:solidFill>
                <a:latin typeface="Times New Roman" panose="02020603050405020304"/>
                <a:cs typeface="Times New Roman" panose="02020603050405020304"/>
              </a:rPr>
              <a:t> </a:t>
            </a:r>
            <a:r>
              <a:rPr sz="2000" spc="-25" dirty="0">
                <a:solidFill>
                  <a:srgbClr val="595959"/>
                </a:solidFill>
                <a:latin typeface="Times New Roman" panose="02020603050405020304"/>
                <a:cs typeface="Times New Roman" panose="02020603050405020304"/>
              </a:rPr>
              <a:t>is </a:t>
            </a:r>
            <a:r>
              <a:rPr sz="2000" dirty="0">
                <a:solidFill>
                  <a:srgbClr val="595959"/>
                </a:solidFill>
                <a:latin typeface="Times New Roman" panose="02020603050405020304"/>
                <a:cs typeface="Times New Roman" panose="02020603050405020304"/>
              </a:rPr>
              <a:t>detected,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the</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system</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immediately</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generates</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warning</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alerts,</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enabling</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security</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personnel</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to</a:t>
            </a:r>
            <a:r>
              <a:rPr sz="2000" spc="-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respond </a:t>
            </a:r>
            <a:r>
              <a:rPr sz="2000" spc="-10" dirty="0">
                <a:solidFill>
                  <a:srgbClr val="595959"/>
                </a:solidFill>
                <a:latin typeface="Times New Roman" panose="02020603050405020304"/>
                <a:cs typeface="Times New Roman" panose="02020603050405020304"/>
              </a:rPr>
              <a:t>quickly </a:t>
            </a:r>
            <a:r>
              <a:rPr sz="2000" dirty="0">
                <a:solidFill>
                  <a:srgbClr val="595959"/>
                </a:solidFill>
                <a:latin typeface="Times New Roman" panose="02020603050405020304"/>
                <a:cs typeface="Times New Roman" panose="02020603050405020304"/>
              </a:rPr>
              <a:t>and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prevent</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potential</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accidents.</a:t>
            </a:r>
            <a:endParaRPr sz="2000">
              <a:latin typeface="Times New Roman" panose="02020603050405020304"/>
              <a:cs typeface="Times New Roman" panose="02020603050405020304"/>
            </a:endParaRPr>
          </a:p>
          <a:p>
            <a:pPr>
              <a:lnSpc>
                <a:spcPct val="100000"/>
              </a:lnSpc>
            </a:pPr>
            <a:endParaRPr sz="2000">
              <a:latin typeface="Times New Roman" panose="02020603050405020304"/>
              <a:cs typeface="Times New Roman" panose="02020603050405020304"/>
            </a:endParaRPr>
          </a:p>
          <a:p>
            <a:pPr>
              <a:lnSpc>
                <a:spcPct val="100000"/>
              </a:lnSpc>
              <a:spcBef>
                <a:spcPts val="1240"/>
              </a:spcBef>
            </a:pPr>
            <a:endParaRPr sz="2000">
              <a:latin typeface="Times New Roman" panose="02020603050405020304"/>
              <a:cs typeface="Times New Roman" panose="02020603050405020304"/>
            </a:endParaRPr>
          </a:p>
          <a:p>
            <a:pPr marL="266065" indent="-260350">
              <a:lnSpc>
                <a:spcPct val="100000"/>
              </a:lnSpc>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Monitor</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behavior</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continuously</a:t>
            </a:r>
            <a:r>
              <a:rPr sz="2000" spc="-1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unusual</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activities.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Detect</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overcrowding,</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panic</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movement,</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abnormal</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events.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Generate</a:t>
            </a:r>
            <a:r>
              <a:rPr sz="2000" spc="-3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instant</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alerts</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security</a:t>
            </a:r>
            <a:r>
              <a:rPr sz="2000" spc="-1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personnel.</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Improve</a:t>
            </a:r>
            <a:r>
              <a:rPr sz="2000" spc="-4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emergency</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response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public</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safety.</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apture_20260831094207686"/>
          <p:cNvPicPr>
            <a:picLocks noChangeAspect="1"/>
          </p:cNvPicPr>
          <p:nvPr/>
        </p:nvPicPr>
        <p:blipFill>
          <a:blip r:embed="rId1"/>
          <a:stretch>
            <a:fillRect/>
          </a:stretch>
        </p:blipFill>
        <p:spPr>
          <a:xfrm>
            <a:off x="1435735" y="694055"/>
            <a:ext cx="9654540" cy="5542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70" y="2209787"/>
            <a:ext cx="10549890" cy="519430"/>
          </a:xfrm>
          <a:prstGeom prst="rect">
            <a:avLst/>
          </a:prstGeom>
        </p:spPr>
        <p:txBody>
          <a:bodyPr vert="horz" wrap="square" lIns="0" tIns="17780" rIns="0" bIns="0" rtlCol="0">
            <a:spAutoFit/>
          </a:bodyPr>
          <a:lstStyle/>
          <a:p>
            <a:pPr marL="12700">
              <a:lnSpc>
                <a:spcPct val="100000"/>
              </a:lnSpc>
              <a:spcBef>
                <a:spcPts val="140"/>
              </a:spcBef>
            </a:pPr>
            <a:r>
              <a:rPr sz="3200" dirty="0"/>
              <a:t>Module</a:t>
            </a:r>
            <a:r>
              <a:rPr sz="3200" spc="70" dirty="0"/>
              <a:t> </a:t>
            </a:r>
            <a:r>
              <a:rPr sz="3200" dirty="0"/>
              <a:t>5:</a:t>
            </a:r>
            <a:r>
              <a:rPr sz="3200" spc="80" dirty="0"/>
              <a:t> </a:t>
            </a:r>
            <a:r>
              <a:rPr sz="3200" dirty="0"/>
              <a:t>Dashboard,</a:t>
            </a:r>
            <a:r>
              <a:rPr sz="3200" spc="10" dirty="0"/>
              <a:t> </a:t>
            </a:r>
            <a:r>
              <a:rPr sz="3200" dirty="0"/>
              <a:t>Visualization</a:t>
            </a:r>
            <a:r>
              <a:rPr sz="3200" spc="75" dirty="0"/>
              <a:t> </a:t>
            </a:r>
            <a:r>
              <a:rPr sz="3200" dirty="0"/>
              <a:t>and</a:t>
            </a:r>
            <a:r>
              <a:rPr sz="3200" spc="70" dirty="0"/>
              <a:t> </a:t>
            </a:r>
            <a:r>
              <a:rPr sz="3200" dirty="0"/>
              <a:t>Report</a:t>
            </a:r>
            <a:r>
              <a:rPr sz="3200" spc="80" dirty="0"/>
              <a:t> </a:t>
            </a:r>
            <a:r>
              <a:rPr sz="3200" spc="-10" dirty="0"/>
              <a:t>Generation</a:t>
            </a:r>
            <a:endParaRPr sz="3200"/>
          </a:p>
        </p:txBody>
      </p:sp>
      <p:sp>
        <p:nvSpPr>
          <p:cNvPr id="3" name="object 3"/>
          <p:cNvSpPr txBox="1"/>
          <p:nvPr/>
        </p:nvSpPr>
        <p:spPr>
          <a:xfrm>
            <a:off x="456947" y="2971854"/>
            <a:ext cx="10844530" cy="3830320"/>
          </a:xfrm>
          <a:prstGeom prst="rect">
            <a:avLst/>
          </a:prstGeom>
        </p:spPr>
        <p:txBody>
          <a:bodyPr vert="horz" wrap="square" lIns="0" tIns="12700" rIns="0" bIns="0" rtlCol="0">
            <a:spAutoFit/>
          </a:bodyPr>
          <a:lstStyle/>
          <a:p>
            <a:pPr marL="38735" marR="5080" algn="just">
              <a:lnSpc>
                <a:spcPct val="130000"/>
              </a:lnSpc>
              <a:spcBef>
                <a:spcPts val="100"/>
              </a:spcBef>
            </a:pPr>
            <a:r>
              <a:rPr sz="2000" dirty="0">
                <a:solidFill>
                  <a:srgbClr val="595959"/>
                </a:solidFill>
                <a:latin typeface="Times New Roman" panose="02020603050405020304"/>
                <a:cs typeface="Times New Roman" panose="02020603050405020304"/>
              </a:rPr>
              <a:t>This</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module</a:t>
            </a:r>
            <a:r>
              <a:rPr sz="2000" spc="409"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provides</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a:t>
            </a:r>
            <a:r>
              <a:rPr sz="2000" spc="409"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user-</a:t>
            </a:r>
            <a:r>
              <a:rPr sz="2000" dirty="0">
                <a:solidFill>
                  <a:srgbClr val="595959"/>
                </a:solidFill>
                <a:latin typeface="Times New Roman" panose="02020603050405020304"/>
                <a:cs typeface="Times New Roman" panose="02020603050405020304"/>
              </a:rPr>
              <a:t>friendly</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dashboard</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that</a:t>
            </a:r>
            <a:r>
              <a:rPr sz="2000" spc="409"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displays</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live</a:t>
            </a:r>
            <a:r>
              <a:rPr sz="2000" spc="409"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409"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video,</a:t>
            </a:r>
            <a:r>
              <a:rPr sz="2000" spc="4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4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density </a:t>
            </a:r>
            <a:r>
              <a:rPr sz="2000" dirty="0">
                <a:solidFill>
                  <a:srgbClr val="595959"/>
                </a:solidFill>
                <a:latin typeface="Times New Roman" panose="02020603050405020304"/>
                <a:cs typeface="Times New Roman" panose="02020603050405020304"/>
              </a:rPr>
              <a:t>levels,</a:t>
            </a:r>
            <a:r>
              <a:rPr sz="2000" spc="6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anomaly</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detection</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results.</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It</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also</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stores</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logs</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generates</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analytical</a:t>
            </a:r>
            <a:r>
              <a:rPr sz="2000" spc="6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reports</a:t>
            </a:r>
            <a:r>
              <a:rPr sz="2000" spc="65" dirty="0">
                <a:solidFill>
                  <a:srgbClr val="595959"/>
                </a:solidFill>
                <a:latin typeface="Times New Roman" panose="02020603050405020304"/>
                <a:cs typeface="Times New Roman" panose="02020603050405020304"/>
              </a:rPr>
              <a:t> </a:t>
            </a:r>
            <a:r>
              <a:rPr sz="2000" spc="-20" dirty="0">
                <a:solidFill>
                  <a:srgbClr val="595959"/>
                </a:solidFill>
                <a:latin typeface="Times New Roman" panose="02020603050405020304"/>
                <a:cs typeface="Times New Roman" panose="02020603050405020304"/>
              </a:rPr>
              <a:t>that </a:t>
            </a:r>
            <a:r>
              <a:rPr sz="2000" dirty="0">
                <a:solidFill>
                  <a:srgbClr val="595959"/>
                </a:solidFill>
                <a:latin typeface="Times New Roman" panose="02020603050405020304"/>
                <a:cs typeface="Times New Roman" panose="02020603050405020304"/>
              </a:rPr>
              <a:t>help</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authorities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review</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conditions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make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better</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management</a:t>
            </a:r>
            <a:r>
              <a:rPr sz="2000" spc="-3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decisions.</a:t>
            </a:r>
            <a:endParaRPr sz="2000">
              <a:latin typeface="Times New Roman" panose="02020603050405020304"/>
              <a:cs typeface="Times New Roman" panose="02020603050405020304"/>
            </a:endParaRPr>
          </a:p>
          <a:p>
            <a:pPr>
              <a:lnSpc>
                <a:spcPct val="100000"/>
              </a:lnSpc>
            </a:pPr>
            <a:endParaRPr sz="2000">
              <a:latin typeface="Times New Roman" panose="02020603050405020304"/>
              <a:cs typeface="Times New Roman" panose="02020603050405020304"/>
            </a:endParaRPr>
          </a:p>
          <a:p>
            <a:pPr>
              <a:lnSpc>
                <a:spcPct val="100000"/>
              </a:lnSpc>
              <a:spcBef>
                <a:spcPts val="1240"/>
              </a:spcBef>
            </a:pPr>
            <a:endParaRPr sz="2000">
              <a:latin typeface="Times New Roman" panose="02020603050405020304"/>
              <a:cs typeface="Times New Roman" panose="02020603050405020304"/>
            </a:endParaRPr>
          </a:p>
          <a:p>
            <a:pPr marL="266065" indent="-260350">
              <a:lnSpc>
                <a:spcPct val="100000"/>
              </a:lnSpc>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Display</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live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monitoring</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through</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interactive</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dashboard.</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Show</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real-</a:t>
            </a:r>
            <a:r>
              <a:rPr sz="2000" dirty="0">
                <a:solidFill>
                  <a:srgbClr val="595959"/>
                </a:solidFill>
                <a:latin typeface="Times New Roman" panose="02020603050405020304"/>
                <a:cs typeface="Times New Roman" panose="02020603050405020304"/>
              </a:rPr>
              <a:t>time</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crowd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density</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1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anomaly</a:t>
            </a:r>
            <a:r>
              <a:rPr sz="2000" spc="-20"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statistics.</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Store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surveillance</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records</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3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event</a:t>
            </a:r>
            <a:r>
              <a:rPr sz="2000" spc="-25" dirty="0">
                <a:solidFill>
                  <a:srgbClr val="595959"/>
                </a:solidFill>
                <a:latin typeface="Times New Roman" panose="02020603050405020304"/>
                <a:cs typeface="Times New Roman" panose="02020603050405020304"/>
              </a:rPr>
              <a:t> </a:t>
            </a:r>
            <a:r>
              <a:rPr sz="2000" spc="-10" dirty="0">
                <a:solidFill>
                  <a:srgbClr val="595959"/>
                </a:solidFill>
                <a:latin typeface="Times New Roman" panose="02020603050405020304"/>
                <a:cs typeface="Times New Roman" panose="02020603050405020304"/>
              </a:rPr>
              <a:t>history.</a:t>
            </a:r>
            <a:endParaRPr sz="2000">
              <a:latin typeface="Times New Roman" panose="02020603050405020304"/>
              <a:cs typeface="Times New Roman" panose="02020603050405020304"/>
            </a:endParaRPr>
          </a:p>
          <a:p>
            <a:pPr marL="266065" indent="-260350">
              <a:lnSpc>
                <a:spcPct val="100000"/>
              </a:lnSpc>
              <a:spcBef>
                <a:spcPts val="1720"/>
              </a:spcBef>
              <a:buSzPct val="98000"/>
              <a:buFont typeface="Arial MT"/>
              <a:buChar char="●"/>
              <a:tabLst>
                <a:tab pos="266065" algn="l"/>
              </a:tabLst>
            </a:pPr>
            <a:r>
              <a:rPr sz="2000" dirty="0">
                <a:solidFill>
                  <a:srgbClr val="595959"/>
                </a:solidFill>
                <a:latin typeface="Times New Roman" panose="02020603050405020304"/>
                <a:cs typeface="Times New Roman" panose="02020603050405020304"/>
              </a:rPr>
              <a:t>Generate</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reports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for</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analysis</a:t>
            </a:r>
            <a:r>
              <a:rPr sz="2000" spc="-25"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and</a:t>
            </a:r>
            <a:r>
              <a:rPr sz="2000" spc="-20" dirty="0">
                <a:solidFill>
                  <a:srgbClr val="595959"/>
                </a:solidFill>
                <a:latin typeface="Times New Roman" panose="02020603050405020304"/>
                <a:cs typeface="Times New Roman" panose="02020603050405020304"/>
              </a:rPr>
              <a:t> </a:t>
            </a:r>
            <a:r>
              <a:rPr sz="2000" dirty="0">
                <a:solidFill>
                  <a:srgbClr val="595959"/>
                </a:solidFill>
                <a:latin typeface="Times New Roman" panose="02020603050405020304"/>
                <a:cs typeface="Times New Roman" panose="02020603050405020304"/>
              </a:rPr>
              <a:t>decision-</a:t>
            </a:r>
            <a:r>
              <a:rPr sz="2000" spc="-10" dirty="0">
                <a:solidFill>
                  <a:srgbClr val="595959"/>
                </a:solidFill>
                <a:latin typeface="Times New Roman" panose="02020603050405020304"/>
                <a:cs typeface="Times New Roman" panose="02020603050405020304"/>
              </a:rPr>
              <a:t>making</a:t>
            </a:r>
            <a:endParaRPr sz="200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807720" y="541020"/>
            <a:ext cx="10576560" cy="5775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2070" y="1752587"/>
            <a:ext cx="10549890" cy="553720"/>
          </a:xfrm>
        </p:spPr>
        <p:txBody>
          <a:bodyPr/>
          <a:p>
            <a:r>
              <a:rPr lang="en-US" altLang="en-US"/>
              <a:t>          System Debugging &amp; Optimization</a:t>
            </a:r>
            <a:endParaRPr lang="en-US" altLang="en-US"/>
          </a:p>
        </p:txBody>
      </p:sp>
      <p:sp>
        <p:nvSpPr>
          <p:cNvPr id="3" name="Text Placeholder 2"/>
          <p:cNvSpPr>
            <a:spLocks noGrp="1"/>
          </p:cNvSpPr>
          <p:nvPr>
            <p:ph type="body" idx="1"/>
          </p:nvPr>
        </p:nvSpPr>
        <p:spPr>
          <a:xfrm>
            <a:off x="609347" y="2895654"/>
            <a:ext cx="9924415" cy="3385185"/>
          </a:xfrm>
        </p:spPr>
        <p:txBody>
          <a:bodyPr/>
          <a:p>
            <a:r>
              <a:rPr lang="en-US" altLang="en-US" b="1"/>
              <a:t>Debugging:</a:t>
            </a:r>
            <a:r>
              <a:rPr lang="en-US" altLang="en-US"/>
              <a:t> Identify and fix errors in the crowd detection, density estimation, and anomaly detection modules.</a:t>
            </a:r>
            <a:endParaRPr lang="en-US" altLang="en-US"/>
          </a:p>
          <a:p>
            <a:r>
              <a:rPr lang="en-US" altLang="en-US" b="1"/>
              <a:t>Performance Testing: </a:t>
            </a:r>
            <a:r>
              <a:rPr lang="en-US" altLang="en-US"/>
              <a:t>Check system accuracy, processing speed, memory usage, and response time.</a:t>
            </a:r>
            <a:endParaRPr lang="en-US" altLang="en-US"/>
          </a:p>
          <a:p>
            <a:r>
              <a:rPr lang="en-US" altLang="en-US" b="1"/>
              <a:t>Optimization:</a:t>
            </a:r>
            <a:r>
              <a:rPr lang="en-US" altLang="en-US"/>
              <a:t> Reduce unnecessary image-processing operations and improve RBFN prediction speed.</a:t>
            </a:r>
            <a:endParaRPr lang="en-US" altLang="en-US"/>
          </a:p>
          <a:p>
            <a:r>
              <a:rPr lang="en-US" altLang="en-US" b="1"/>
              <a:t>OpenCV Optimization:</a:t>
            </a:r>
            <a:r>
              <a:rPr lang="en-US" altLang="en-US"/>
              <a:t> Use efficient frame processing and resizing to achieve faster video analysis.</a:t>
            </a:r>
            <a:endParaRPr lang="en-US" altLang="en-US"/>
          </a:p>
          <a:p>
            <a:r>
              <a:rPr lang="en-US" altLang="en-US" b="1"/>
              <a:t>Model Optimization: </a:t>
            </a:r>
            <a:r>
              <a:rPr lang="en-US" altLang="en-US"/>
              <a:t>Tune RBFN parameters to improve crowd-density and anomaly-detection accuracy.</a:t>
            </a:r>
            <a:endParaRPr lang="en-US" altLang="en-US"/>
          </a:p>
          <a:p>
            <a:r>
              <a:rPr lang="en-US" altLang="en-US" b="1"/>
              <a:t>Final Testing: </a:t>
            </a:r>
            <a:r>
              <a:rPr lang="en-US" altLang="en-US"/>
              <a:t>Test the complete system with different crowd sizes and real-time video inputs.</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1125" y="2133587"/>
            <a:ext cx="10549890" cy="553720"/>
          </a:xfrm>
        </p:spPr>
        <p:txBody>
          <a:bodyPr/>
          <a:p>
            <a:pPr algn="ctr"/>
            <a:r>
              <a:rPr lang="en-US" altLang="en-US"/>
              <a:t>Full System Testing</a:t>
            </a:r>
            <a:endParaRPr lang="en-US" altLang="en-US"/>
          </a:p>
        </p:txBody>
      </p:sp>
      <p:sp>
        <p:nvSpPr>
          <p:cNvPr id="3" name="Text Placeholder 2"/>
          <p:cNvSpPr>
            <a:spLocks noGrp="1"/>
          </p:cNvSpPr>
          <p:nvPr>
            <p:ph type="body" idx="1"/>
          </p:nvPr>
        </p:nvSpPr>
        <p:spPr>
          <a:xfrm>
            <a:off x="609347" y="3048054"/>
            <a:ext cx="9924415" cy="3231515"/>
          </a:xfrm>
        </p:spPr>
        <p:txBody>
          <a:bodyPr/>
          <a:p>
            <a:pPr>
              <a:lnSpc>
                <a:spcPct val="150000"/>
              </a:lnSpc>
            </a:pPr>
            <a:r>
              <a:rPr lang="en-US" altLang="en-US" b="1"/>
              <a:t>Full System Testing</a:t>
            </a:r>
            <a:endParaRPr lang="en-US" altLang="en-US" b="1"/>
          </a:p>
          <a:p>
            <a:pPr marL="457200" indent="-457200" algn="l">
              <a:lnSpc>
                <a:spcPct val="150000"/>
              </a:lnSpc>
              <a:buAutoNum type="arabicPeriod"/>
            </a:pPr>
            <a:r>
              <a:rPr lang="en-US" altLang="en-US"/>
              <a:t>Test the complete system using real-time crowd videos.</a:t>
            </a:r>
            <a:endParaRPr lang="en-US" altLang="en-US"/>
          </a:p>
          <a:p>
            <a:pPr marL="457200" indent="-457200" algn="l">
              <a:lnSpc>
                <a:spcPct val="150000"/>
              </a:lnSpc>
              <a:buAutoNum type="arabicPeriod"/>
            </a:pPr>
            <a:r>
              <a:rPr lang="en-US" altLang="en-US"/>
              <a:t>Verify crowd detection and density estimation accuracy.</a:t>
            </a:r>
            <a:endParaRPr lang="en-US" altLang="en-US"/>
          </a:p>
          <a:p>
            <a:pPr marL="457200" indent="-457200" algn="l">
              <a:lnSpc>
                <a:spcPct val="150000"/>
              </a:lnSpc>
              <a:buAutoNum type="arabicPeriod"/>
            </a:pPr>
            <a:r>
              <a:rPr lang="en-US" altLang="en-US"/>
              <a:t>Test RBFN-based prediction under different crowd sizes.</a:t>
            </a:r>
            <a:endParaRPr lang="en-US" altLang="en-US"/>
          </a:p>
          <a:p>
            <a:pPr marL="457200" indent="-457200" algn="l">
              <a:lnSpc>
                <a:spcPct val="150000"/>
              </a:lnSpc>
              <a:buAutoNum type="arabicPeriod"/>
            </a:pPr>
            <a:r>
              <a:rPr lang="en-US" altLang="en-US"/>
              <a:t>Check anomaly detection and alert generation.</a:t>
            </a:r>
            <a:endParaRPr lang="en-US" altLang="en-US"/>
          </a:p>
          <a:p>
            <a:pPr marL="457200" indent="-457200" algn="l">
              <a:lnSpc>
                <a:spcPct val="150000"/>
              </a:lnSpc>
              <a:buAutoNum type="arabicPeriod"/>
            </a:pPr>
            <a:r>
              <a:rPr lang="en-US" altLang="en-US"/>
              <a:t>Measure accuracy, processing speed, and response time.</a:t>
            </a:r>
            <a:endParaRPr lang="en-US" altLang="en-US"/>
          </a:p>
          <a:p>
            <a:pPr marL="457200" indent="-457200" algn="l">
              <a:lnSpc>
                <a:spcPct val="150000"/>
              </a:lnSpc>
              <a:buAutoNum type="arabicPeriod"/>
            </a:pPr>
            <a:r>
              <a:rPr lang="en-US" altLang="en-US"/>
              <a:t>Confirm that all modules work correctly together without errors.</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2070" y="1523987"/>
            <a:ext cx="10549890" cy="553720"/>
          </a:xfrm>
        </p:spPr>
        <p:txBody>
          <a:bodyPr/>
          <a:p>
            <a:pPr algn="ctr"/>
            <a:r>
              <a:rPr lang="en-US" altLang="en-US"/>
              <a:t>Solution Design and Implementation</a:t>
            </a:r>
            <a:endParaRPr lang="en-US" altLang="en-US"/>
          </a:p>
        </p:txBody>
      </p:sp>
      <p:sp>
        <p:nvSpPr>
          <p:cNvPr id="3" name="Text Placeholder 2"/>
          <p:cNvSpPr>
            <a:spLocks noGrp="1"/>
          </p:cNvSpPr>
          <p:nvPr>
            <p:ph type="body" idx="1"/>
          </p:nvPr>
        </p:nvSpPr>
        <p:spPr>
          <a:xfrm>
            <a:off x="685547" y="2438454"/>
            <a:ext cx="9924415" cy="3231515"/>
          </a:xfrm>
        </p:spPr>
        <p:txBody>
          <a:bodyPr/>
          <a:p>
            <a:pPr>
              <a:lnSpc>
                <a:spcPct val="150000"/>
              </a:lnSpc>
            </a:pPr>
            <a:r>
              <a:rPr lang="en-US" altLang="en-US" b="1"/>
              <a:t>Solution Design and Implementation</a:t>
            </a:r>
            <a:endParaRPr lang="en-US" altLang="en-US" b="1"/>
          </a:p>
          <a:p>
            <a:pPr marL="457200" indent="-457200">
              <a:lnSpc>
                <a:spcPct val="150000"/>
              </a:lnSpc>
              <a:buAutoNum type="arabicPeriod"/>
            </a:pPr>
            <a:r>
              <a:rPr lang="en-US" altLang="en-US"/>
              <a:t>Design the system using OpenCV, Deep Learning, and RBFN.</a:t>
            </a:r>
            <a:endParaRPr lang="en-US" altLang="en-US"/>
          </a:p>
          <a:p>
            <a:pPr marL="457200" indent="-457200">
              <a:lnSpc>
                <a:spcPct val="150000"/>
              </a:lnSpc>
              <a:buAutoNum type="arabicPeriod"/>
            </a:pPr>
            <a:r>
              <a:rPr lang="en-US" altLang="en-US"/>
              <a:t>Capture and preprocess real-time video frames.</a:t>
            </a:r>
            <a:endParaRPr lang="en-US" altLang="en-US"/>
          </a:p>
          <a:p>
            <a:pPr marL="457200" indent="-457200">
              <a:lnSpc>
                <a:spcPct val="150000"/>
              </a:lnSpc>
              <a:buAutoNum type="arabicPeriod"/>
            </a:pPr>
            <a:r>
              <a:rPr lang="en-US" altLang="en-US"/>
              <a:t>Detect people and generate crowd density information.</a:t>
            </a:r>
            <a:endParaRPr lang="en-US" altLang="en-US"/>
          </a:p>
          <a:p>
            <a:pPr marL="457200" indent="-457200">
              <a:lnSpc>
                <a:spcPct val="150000"/>
              </a:lnSpc>
              <a:buAutoNum type="arabicPeriod"/>
            </a:pPr>
            <a:r>
              <a:rPr lang="en-US" altLang="en-US"/>
              <a:t>Use RBFN to classify crowd density levels.</a:t>
            </a:r>
            <a:endParaRPr lang="en-US" altLang="en-US"/>
          </a:p>
          <a:p>
            <a:pPr marL="457200" indent="-457200">
              <a:lnSpc>
                <a:spcPct val="150000"/>
              </a:lnSpc>
              <a:buAutoNum type="arabicPeriod"/>
            </a:pPr>
            <a:r>
              <a:rPr lang="en-US" altLang="en-US"/>
              <a:t>Detect abnormal crowd activities and generate alerts.</a:t>
            </a:r>
            <a:endParaRPr lang="en-US" altLang="en-US"/>
          </a:p>
          <a:p>
            <a:pPr marL="457200" indent="-457200">
              <a:lnSpc>
                <a:spcPct val="150000"/>
              </a:lnSpc>
              <a:buAutoNum type="arabicPeriod"/>
            </a:pPr>
            <a:r>
              <a:rPr lang="en-US" altLang="en-US"/>
              <a:t>Implement and integrate all modules into a real-time monitoring system.</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3470" y="1371587"/>
            <a:ext cx="10549890" cy="553720"/>
          </a:xfrm>
        </p:spPr>
        <p:txBody>
          <a:bodyPr/>
          <a:p>
            <a:pPr algn="ctr"/>
            <a:r>
              <a:rPr lang="en-US" altLang="en-US"/>
              <a:t>Results and Recommendations</a:t>
            </a:r>
            <a:endParaRPr lang="en-US" altLang="en-US"/>
          </a:p>
        </p:txBody>
      </p:sp>
      <p:sp>
        <p:nvSpPr>
          <p:cNvPr id="3" name="Text Placeholder 2"/>
          <p:cNvSpPr>
            <a:spLocks noGrp="1"/>
          </p:cNvSpPr>
          <p:nvPr>
            <p:ph type="body" idx="1"/>
          </p:nvPr>
        </p:nvSpPr>
        <p:spPr>
          <a:xfrm>
            <a:off x="761747" y="2286054"/>
            <a:ext cx="9924415" cy="3231515"/>
          </a:xfrm>
        </p:spPr>
        <p:txBody>
          <a:bodyPr/>
          <a:p>
            <a:pPr marL="342900" indent="-342900">
              <a:lnSpc>
                <a:spcPct val="150000"/>
              </a:lnSpc>
              <a:buFont typeface="Wingdings" panose="05000000000000000000" charset="0"/>
              <a:buChar char="Ø"/>
            </a:pPr>
            <a:r>
              <a:rPr lang="en-US" altLang="en-US" b="1"/>
              <a:t>Results and Recommendations</a:t>
            </a:r>
            <a:endParaRPr lang="en-US" altLang="en-US" b="1"/>
          </a:p>
          <a:p>
            <a:pPr marL="342900" indent="-342900">
              <a:lnSpc>
                <a:spcPct val="150000"/>
              </a:lnSpc>
              <a:buFont typeface="Wingdings" panose="05000000000000000000" charset="0"/>
              <a:buChar char="Ø"/>
            </a:pPr>
            <a:r>
              <a:rPr lang="en-US" altLang="en-US"/>
              <a:t>The system successfully estimates crowd density from video frames.</a:t>
            </a:r>
            <a:endParaRPr lang="en-US" altLang="en-US"/>
          </a:p>
          <a:p>
            <a:pPr marL="342900" indent="-342900">
              <a:lnSpc>
                <a:spcPct val="150000"/>
              </a:lnSpc>
              <a:buFont typeface="Wingdings" panose="05000000000000000000" charset="0"/>
              <a:buChar char="Ø"/>
            </a:pPr>
            <a:r>
              <a:rPr lang="en-US" altLang="en-US"/>
              <a:t>RBFN classifies crowd levels effectively.</a:t>
            </a:r>
            <a:endParaRPr lang="en-US" altLang="en-US"/>
          </a:p>
          <a:p>
            <a:pPr marL="342900" indent="-342900">
              <a:lnSpc>
                <a:spcPct val="150000"/>
              </a:lnSpc>
              <a:buFont typeface="Wingdings" panose="05000000000000000000" charset="0"/>
              <a:buChar char="Ø"/>
            </a:pPr>
            <a:r>
              <a:rPr lang="en-US" altLang="en-US"/>
              <a:t>OpenCV enables real-time video processing.</a:t>
            </a:r>
            <a:endParaRPr lang="en-US" altLang="en-US"/>
          </a:p>
          <a:p>
            <a:pPr marL="342900" indent="-342900">
              <a:lnSpc>
                <a:spcPct val="150000"/>
              </a:lnSpc>
              <a:buFont typeface="Wingdings" panose="05000000000000000000" charset="0"/>
              <a:buChar char="Ø"/>
            </a:pPr>
            <a:r>
              <a:rPr lang="en-US" altLang="en-US"/>
              <a:t>The system detects abnormal crowd activities and generates alerts.</a:t>
            </a:r>
            <a:endParaRPr lang="en-US" altLang="en-US"/>
          </a:p>
          <a:p>
            <a:pPr marL="342900" indent="-342900">
              <a:lnSpc>
                <a:spcPct val="150000"/>
              </a:lnSpc>
              <a:buFont typeface="Wingdings" panose="05000000000000000000" charset="0"/>
              <a:buChar char="Ø"/>
            </a:pPr>
            <a:r>
              <a:rPr lang="en-US" altLang="en-US"/>
              <a:t>Recommended to use larger datasets for better accuracy.</a:t>
            </a:r>
            <a:endParaRPr lang="en-US" altLang="en-US"/>
          </a:p>
          <a:p>
            <a:pPr marL="342900" indent="-342900">
              <a:lnSpc>
                <a:spcPct val="150000"/>
              </a:lnSpc>
              <a:buFont typeface="Wingdings" panose="05000000000000000000" charset="0"/>
              <a:buChar char="Ø"/>
            </a:pPr>
            <a:r>
              <a:rPr lang="en-US" altLang="en-US"/>
              <a:t>Future work can improve real-time performance and anomaly detection.</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1425" y="685152"/>
            <a:ext cx="10549890" cy="553720"/>
          </a:xfrm>
        </p:spPr>
        <p:txBody>
          <a:bodyPr/>
          <a:p>
            <a:pPr algn="ctr"/>
            <a:r>
              <a:rPr lang="en-US"/>
              <a:t>Implementation</a:t>
            </a:r>
            <a:endParaRPr 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1111885" y="1600200"/>
            <a:ext cx="9688195" cy="481393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70" y="1676387"/>
            <a:ext cx="10549890" cy="553720"/>
          </a:xfrm>
        </p:spPr>
        <p:txBody>
          <a:bodyPr/>
          <a:p>
            <a:pPr algn="ctr"/>
            <a:r>
              <a:rPr lang="en-US"/>
              <a:t>Future Enhancement</a:t>
            </a:r>
            <a:endParaRPr lang="en-US"/>
          </a:p>
        </p:txBody>
      </p:sp>
      <p:sp>
        <p:nvSpPr>
          <p:cNvPr id="3" name="Text Placeholder 2"/>
          <p:cNvSpPr>
            <a:spLocks noGrp="1"/>
          </p:cNvSpPr>
          <p:nvPr>
            <p:ph type="body" idx="1"/>
          </p:nvPr>
        </p:nvSpPr>
        <p:spPr>
          <a:xfrm>
            <a:off x="533147" y="2438454"/>
            <a:ext cx="9924415" cy="3231515"/>
          </a:xfrm>
        </p:spPr>
        <p:txBody>
          <a:bodyPr/>
          <a:p>
            <a:pPr marL="457200" indent="-457200" algn="just">
              <a:lnSpc>
                <a:spcPct val="150000"/>
              </a:lnSpc>
              <a:buFont typeface="Wingdings" panose="05000000000000000000" charset="0"/>
              <a:buChar char="Ø"/>
            </a:pPr>
            <a:r>
              <a:rPr lang="en-US" altLang="en-US"/>
              <a:t>Improve crowd-density estimation accuracy using advanced deep-learning models.</a:t>
            </a:r>
            <a:endParaRPr lang="en-US" altLang="en-US"/>
          </a:p>
          <a:p>
            <a:pPr marL="457200" indent="-457200" algn="just">
              <a:lnSpc>
                <a:spcPct val="150000"/>
              </a:lnSpc>
              <a:buFont typeface="Wingdings" panose="05000000000000000000" charset="0"/>
              <a:buChar char="Ø"/>
            </a:pPr>
            <a:r>
              <a:rPr lang="en-US" altLang="en-US"/>
              <a:t>Enhance RBFN performance through parameter optimization.</a:t>
            </a:r>
            <a:endParaRPr lang="en-US" altLang="en-US"/>
          </a:p>
          <a:p>
            <a:pPr marL="457200" indent="-457200" algn="just">
              <a:lnSpc>
                <a:spcPct val="150000"/>
              </a:lnSpc>
              <a:buFont typeface="Wingdings" panose="05000000000000000000" charset="0"/>
              <a:buChar char="Ø"/>
            </a:pPr>
            <a:r>
              <a:rPr lang="en-US" altLang="en-US"/>
              <a:t>Add real-time CCTV integration for continuous monitoring.</a:t>
            </a:r>
            <a:endParaRPr lang="en-US" altLang="en-US"/>
          </a:p>
          <a:p>
            <a:pPr marL="457200" indent="-457200" algn="l">
              <a:lnSpc>
                <a:spcPct val="150000"/>
              </a:lnSpc>
              <a:buFont typeface="Wingdings" panose="05000000000000000000" charset="0"/>
              <a:buChar char="Ø"/>
            </a:pPr>
            <a:r>
              <a:rPr lang="en-US" altLang="en-US"/>
              <a:t>Detect more anomalies such as stampedes, fights, sudden crowd movement, and overcrowding.</a:t>
            </a:r>
            <a:endParaRPr lang="en-US" altLang="en-US"/>
          </a:p>
          <a:p>
            <a:pPr marL="457200" indent="-457200" algn="just">
              <a:lnSpc>
                <a:spcPct val="150000"/>
              </a:lnSpc>
              <a:buFont typeface="Wingdings" panose="05000000000000000000" charset="0"/>
              <a:buChar char="Ø"/>
            </a:pPr>
            <a:r>
              <a:rPr lang="en-US" altLang="en-US"/>
              <a:t>Add real-time SMS, email, or mobile notifications for emergencies.</a:t>
            </a:r>
            <a:endParaRPr lang="en-US" altLang="en-US"/>
          </a:p>
          <a:p>
            <a:pPr marL="457200" indent="-457200" algn="just">
              <a:lnSpc>
                <a:spcPct val="150000"/>
              </a:lnSpc>
              <a:buFont typeface="Wingdings" panose="05000000000000000000" charset="0"/>
              <a:buChar char="Ø"/>
            </a:pPr>
            <a:r>
              <a:rPr lang="en-US" altLang="en-US"/>
              <a:t>Develop a web/mobile dashboard for live crowd monitoring.</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70" y="1600187"/>
            <a:ext cx="10549890" cy="553720"/>
          </a:xfrm>
        </p:spPr>
        <p:txBody>
          <a:bodyPr/>
          <a:p>
            <a:pPr algn="ctr"/>
            <a:r>
              <a:rPr lang="en-US"/>
              <a:t>Limitations</a:t>
            </a:r>
            <a:endParaRPr lang="en-US"/>
          </a:p>
        </p:txBody>
      </p:sp>
      <p:sp>
        <p:nvSpPr>
          <p:cNvPr id="3" name="Text Placeholder 2"/>
          <p:cNvSpPr>
            <a:spLocks noGrp="1"/>
          </p:cNvSpPr>
          <p:nvPr>
            <p:ph type="body" idx="1"/>
          </p:nvPr>
        </p:nvSpPr>
        <p:spPr>
          <a:xfrm>
            <a:off x="685800" y="2286000"/>
            <a:ext cx="8146415" cy="2308225"/>
          </a:xfrm>
        </p:spPr>
        <p:txBody>
          <a:bodyPr wrap="square"/>
          <a:p>
            <a:pPr marL="342900" indent="-342900" algn="just">
              <a:lnSpc>
                <a:spcPct val="150000"/>
              </a:lnSpc>
              <a:buFont typeface="Wingdings" panose="05000000000000000000" charset="0"/>
              <a:buChar char="Ø"/>
            </a:pPr>
            <a:r>
              <a:rPr lang="en-US" altLang="en-US"/>
              <a:t>Accuracy may decrease in highly crowded scenes.</a:t>
            </a:r>
            <a:endParaRPr lang="en-US" altLang="en-US"/>
          </a:p>
          <a:p>
            <a:pPr marL="342900" indent="-342900" algn="just">
              <a:lnSpc>
                <a:spcPct val="150000"/>
              </a:lnSpc>
              <a:buFont typeface="Wingdings" panose="05000000000000000000" charset="0"/>
              <a:buChar char="Ø"/>
            </a:pPr>
            <a:r>
              <a:rPr lang="en-US" altLang="en-US"/>
              <a:t>Poor lighting and low-quality videos can affect detection.</a:t>
            </a:r>
            <a:endParaRPr lang="en-US" altLang="en-US"/>
          </a:p>
          <a:p>
            <a:pPr marL="342900" indent="-342900" algn="just">
              <a:lnSpc>
                <a:spcPct val="150000"/>
              </a:lnSpc>
              <a:buFont typeface="Wingdings" panose="05000000000000000000" charset="0"/>
              <a:buChar char="Ø"/>
            </a:pPr>
            <a:r>
              <a:rPr lang="en-US" altLang="en-US"/>
              <a:t>Occlusion and camera angles may reduce accuracy.</a:t>
            </a:r>
            <a:endParaRPr lang="en-US" altLang="en-US"/>
          </a:p>
          <a:p>
            <a:pPr marL="342900" indent="-342900" algn="just">
              <a:lnSpc>
                <a:spcPct val="150000"/>
              </a:lnSpc>
              <a:buFont typeface="Wingdings" panose="05000000000000000000" charset="0"/>
              <a:buChar char="Ø"/>
            </a:pPr>
            <a:r>
              <a:rPr lang="en-US" altLang="en-US"/>
              <a:t>Real-time processing may require high computational power.</a:t>
            </a:r>
            <a:endParaRPr lang="en-US" altLang="en-US"/>
          </a:p>
          <a:p>
            <a:pPr marL="342900" indent="-342900" algn="just">
              <a:lnSpc>
                <a:spcPct val="150000"/>
              </a:lnSpc>
              <a:buFont typeface="Wingdings" panose="05000000000000000000" charset="0"/>
              <a:buChar char="Ø"/>
            </a:pPr>
            <a:r>
              <a:rPr lang="en-US" altLang="en-US"/>
              <a:t>The system may produce false alarms or incorrect anomaly detection.</a:t>
            </a:r>
            <a:endParaRPr lang="en-US" altLang="en-US"/>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1425" y="1904987"/>
            <a:ext cx="10549890" cy="519430"/>
          </a:xfrm>
          <a:prstGeom prst="rect">
            <a:avLst/>
          </a:prstGeom>
        </p:spPr>
        <p:txBody>
          <a:bodyPr vert="horz" wrap="square" lIns="0" tIns="12700" rIns="0" bIns="0" rtlCol="0">
            <a:spAutoFit/>
          </a:bodyPr>
          <a:lstStyle/>
          <a:p>
            <a:pPr marL="4382135">
              <a:lnSpc>
                <a:spcPct val="100000"/>
              </a:lnSpc>
              <a:spcBef>
                <a:spcPts val="100"/>
              </a:spcBef>
            </a:pPr>
            <a:r>
              <a:rPr spc="-10" dirty="0"/>
              <a:t>conclusion</a:t>
            </a:r>
            <a:endParaRPr spc="-10" dirty="0"/>
          </a:p>
        </p:txBody>
      </p:sp>
      <p:sp>
        <p:nvSpPr>
          <p:cNvPr id="3" name="object 3"/>
          <p:cNvSpPr txBox="1">
            <a:spLocks noGrp="1"/>
          </p:cNvSpPr>
          <p:nvPr>
            <p:ph type="body" idx="1"/>
          </p:nvPr>
        </p:nvSpPr>
        <p:spPr>
          <a:xfrm>
            <a:off x="456947" y="2667054"/>
            <a:ext cx="9924415" cy="3992879"/>
          </a:xfrm>
          <a:prstGeom prst="rect">
            <a:avLst/>
          </a:prstGeom>
        </p:spPr>
        <p:txBody>
          <a:bodyPr vert="horz" wrap="square" lIns="0" tIns="12700" rIns="0" bIns="0" rtlCol="0">
            <a:spAutoFit/>
          </a:bodyPr>
          <a:lstStyle/>
          <a:p>
            <a:pPr marL="266065" indent="-260350">
              <a:lnSpc>
                <a:spcPct val="100000"/>
              </a:lnSpc>
              <a:spcBef>
                <a:spcPts val="100"/>
              </a:spcBef>
              <a:buSzPct val="98000"/>
              <a:buFont typeface="Arial MT"/>
              <a:buChar char="●"/>
              <a:tabLst>
                <a:tab pos="266065" algn="l"/>
              </a:tabLst>
            </a:pPr>
            <a:r>
              <a:rPr dirty="0"/>
              <a:t>Developed</a:t>
            </a:r>
            <a:r>
              <a:rPr spc="-15" dirty="0"/>
              <a:t> </a:t>
            </a:r>
            <a:r>
              <a:rPr dirty="0"/>
              <a:t>an</a:t>
            </a:r>
            <a:r>
              <a:rPr spc="-10" dirty="0"/>
              <a:t> </a:t>
            </a:r>
            <a:r>
              <a:rPr dirty="0"/>
              <a:t>intelligent</a:t>
            </a:r>
            <a:r>
              <a:rPr spc="-15" dirty="0"/>
              <a:t> </a:t>
            </a:r>
            <a:r>
              <a:rPr dirty="0"/>
              <a:t>system</a:t>
            </a:r>
            <a:r>
              <a:rPr spc="-15" dirty="0"/>
              <a:t> </a:t>
            </a:r>
            <a:r>
              <a:rPr dirty="0"/>
              <a:t>for</a:t>
            </a:r>
            <a:r>
              <a:rPr spc="-10" dirty="0"/>
              <a:t> real-</a:t>
            </a:r>
            <a:r>
              <a:rPr dirty="0"/>
              <a:t>time</a:t>
            </a:r>
            <a:r>
              <a:rPr spc="-15" dirty="0"/>
              <a:t> </a:t>
            </a:r>
            <a:r>
              <a:rPr dirty="0"/>
              <a:t>crowd</a:t>
            </a:r>
            <a:r>
              <a:rPr spc="-10" dirty="0"/>
              <a:t> </a:t>
            </a:r>
            <a:r>
              <a:rPr dirty="0"/>
              <a:t>density</a:t>
            </a:r>
            <a:r>
              <a:rPr spc="-10" dirty="0"/>
              <a:t> </a:t>
            </a:r>
            <a:r>
              <a:rPr dirty="0"/>
              <a:t>estimation</a:t>
            </a:r>
            <a:r>
              <a:rPr spc="-10" dirty="0"/>
              <a:t> </a:t>
            </a:r>
            <a:r>
              <a:rPr dirty="0"/>
              <a:t>and</a:t>
            </a:r>
            <a:r>
              <a:rPr spc="-10" dirty="0"/>
              <a:t> </a:t>
            </a:r>
            <a:r>
              <a:rPr dirty="0"/>
              <a:t>anomaly</a:t>
            </a:r>
            <a:r>
              <a:rPr spc="-10" dirty="0"/>
              <a:t> detection.</a:t>
            </a:r>
            <a:endParaRPr spc="-10" dirty="0"/>
          </a:p>
          <a:p>
            <a:pPr marL="266065" indent="-260350">
              <a:lnSpc>
                <a:spcPct val="100000"/>
              </a:lnSpc>
              <a:spcBef>
                <a:spcPts val="1720"/>
              </a:spcBef>
              <a:buSzPct val="98000"/>
              <a:buFont typeface="Arial MT"/>
              <a:buChar char="●"/>
              <a:tabLst>
                <a:tab pos="266065" algn="l"/>
              </a:tabLst>
            </a:pPr>
            <a:r>
              <a:rPr dirty="0"/>
              <a:t>Used</a:t>
            </a:r>
            <a:r>
              <a:rPr spc="-15" dirty="0"/>
              <a:t> </a:t>
            </a:r>
            <a:r>
              <a:rPr spc="-10" dirty="0"/>
              <a:t>OpenCV</a:t>
            </a:r>
            <a:r>
              <a:rPr spc="-50" dirty="0"/>
              <a:t> </a:t>
            </a:r>
            <a:r>
              <a:rPr dirty="0"/>
              <a:t>for</a:t>
            </a:r>
            <a:r>
              <a:rPr spc="-15" dirty="0"/>
              <a:t> </a:t>
            </a:r>
            <a:r>
              <a:rPr dirty="0"/>
              <a:t>video</a:t>
            </a:r>
            <a:r>
              <a:rPr spc="-10" dirty="0"/>
              <a:t> </a:t>
            </a:r>
            <a:r>
              <a:rPr dirty="0"/>
              <a:t>processing,</a:t>
            </a:r>
            <a:r>
              <a:rPr spc="-10" dirty="0"/>
              <a:t> </a:t>
            </a:r>
            <a:r>
              <a:rPr dirty="0"/>
              <a:t>human</a:t>
            </a:r>
            <a:r>
              <a:rPr spc="-15" dirty="0"/>
              <a:t> </a:t>
            </a:r>
            <a:r>
              <a:rPr dirty="0"/>
              <a:t>detection,</a:t>
            </a:r>
            <a:r>
              <a:rPr spc="-10" dirty="0"/>
              <a:t> </a:t>
            </a:r>
            <a:r>
              <a:rPr dirty="0"/>
              <a:t>and</a:t>
            </a:r>
            <a:r>
              <a:rPr spc="-15" dirty="0"/>
              <a:t> </a:t>
            </a:r>
            <a:r>
              <a:rPr dirty="0"/>
              <a:t>feature</a:t>
            </a:r>
            <a:r>
              <a:rPr spc="-15" dirty="0"/>
              <a:t> </a:t>
            </a:r>
            <a:r>
              <a:rPr spc="-10" dirty="0"/>
              <a:t>extraction.</a:t>
            </a:r>
            <a:endParaRPr spc="-10" dirty="0"/>
          </a:p>
          <a:p>
            <a:pPr marL="266065" indent="-260350">
              <a:lnSpc>
                <a:spcPct val="100000"/>
              </a:lnSpc>
              <a:spcBef>
                <a:spcPts val="1720"/>
              </a:spcBef>
              <a:buSzPct val="98000"/>
              <a:buFont typeface="Arial MT"/>
              <a:buChar char="●"/>
              <a:tabLst>
                <a:tab pos="266065" algn="l"/>
              </a:tabLst>
            </a:pPr>
            <a:r>
              <a:rPr dirty="0"/>
              <a:t>Applied</a:t>
            </a:r>
            <a:r>
              <a:rPr spc="-30" dirty="0"/>
              <a:t> </a:t>
            </a:r>
            <a:r>
              <a:rPr dirty="0"/>
              <a:t>the</a:t>
            </a:r>
            <a:r>
              <a:rPr spc="-25" dirty="0"/>
              <a:t> </a:t>
            </a:r>
            <a:r>
              <a:rPr dirty="0"/>
              <a:t>Radial</a:t>
            </a:r>
            <a:r>
              <a:rPr spc="-30" dirty="0"/>
              <a:t> </a:t>
            </a:r>
            <a:r>
              <a:rPr dirty="0"/>
              <a:t>Basis</a:t>
            </a:r>
            <a:r>
              <a:rPr spc="-30" dirty="0"/>
              <a:t> </a:t>
            </a:r>
            <a:r>
              <a:rPr dirty="0"/>
              <a:t>Function</a:t>
            </a:r>
            <a:r>
              <a:rPr spc="-25" dirty="0"/>
              <a:t> </a:t>
            </a:r>
            <a:r>
              <a:rPr dirty="0"/>
              <a:t>Network</a:t>
            </a:r>
            <a:r>
              <a:rPr spc="-30" dirty="0"/>
              <a:t> </a:t>
            </a:r>
            <a:r>
              <a:rPr dirty="0"/>
              <a:t>(RBFN)</a:t>
            </a:r>
            <a:r>
              <a:rPr spc="-25" dirty="0"/>
              <a:t> </a:t>
            </a:r>
            <a:r>
              <a:rPr dirty="0"/>
              <a:t>for</a:t>
            </a:r>
            <a:r>
              <a:rPr spc="-25" dirty="0"/>
              <a:t> </a:t>
            </a:r>
            <a:r>
              <a:rPr dirty="0"/>
              <a:t>accurate</a:t>
            </a:r>
            <a:r>
              <a:rPr spc="-30" dirty="0"/>
              <a:t> </a:t>
            </a:r>
            <a:r>
              <a:rPr dirty="0"/>
              <a:t>crowd</a:t>
            </a:r>
            <a:r>
              <a:rPr spc="-25" dirty="0"/>
              <a:t> </a:t>
            </a:r>
            <a:r>
              <a:rPr dirty="0"/>
              <a:t>density</a:t>
            </a:r>
            <a:r>
              <a:rPr spc="-25" dirty="0"/>
              <a:t> </a:t>
            </a:r>
            <a:r>
              <a:rPr spc="-10" dirty="0"/>
              <a:t>classification.</a:t>
            </a:r>
            <a:endParaRPr spc="-10" dirty="0"/>
          </a:p>
          <a:p>
            <a:pPr marL="266065" indent="-260350">
              <a:lnSpc>
                <a:spcPct val="100000"/>
              </a:lnSpc>
              <a:spcBef>
                <a:spcPts val="1720"/>
              </a:spcBef>
              <a:buSzPct val="98000"/>
              <a:buFont typeface="Arial MT"/>
              <a:buChar char="●"/>
              <a:tabLst>
                <a:tab pos="266065" algn="l"/>
              </a:tabLst>
            </a:pPr>
            <a:r>
              <a:rPr dirty="0"/>
              <a:t>Detected</a:t>
            </a:r>
            <a:r>
              <a:rPr spc="-15" dirty="0"/>
              <a:t> </a:t>
            </a:r>
            <a:r>
              <a:rPr dirty="0"/>
              <a:t>abnormal</a:t>
            </a:r>
            <a:r>
              <a:rPr spc="-15" dirty="0"/>
              <a:t> </a:t>
            </a:r>
            <a:r>
              <a:rPr dirty="0"/>
              <a:t>crowd</a:t>
            </a:r>
            <a:r>
              <a:rPr spc="-15" dirty="0"/>
              <a:t> </a:t>
            </a:r>
            <a:r>
              <a:rPr dirty="0"/>
              <a:t>behavior</a:t>
            </a:r>
            <a:r>
              <a:rPr spc="-10" dirty="0"/>
              <a:t> </a:t>
            </a:r>
            <a:r>
              <a:rPr dirty="0"/>
              <a:t>such</a:t>
            </a:r>
            <a:r>
              <a:rPr spc="-15" dirty="0"/>
              <a:t> </a:t>
            </a:r>
            <a:r>
              <a:rPr dirty="0"/>
              <a:t>as</a:t>
            </a:r>
            <a:r>
              <a:rPr spc="-15" dirty="0"/>
              <a:t> </a:t>
            </a:r>
            <a:r>
              <a:rPr dirty="0"/>
              <a:t>overcrowding</a:t>
            </a:r>
            <a:r>
              <a:rPr spc="-15" dirty="0"/>
              <a:t> </a:t>
            </a:r>
            <a:r>
              <a:rPr dirty="0"/>
              <a:t>and</a:t>
            </a:r>
            <a:r>
              <a:rPr spc="-10" dirty="0"/>
              <a:t> </a:t>
            </a:r>
            <a:r>
              <a:rPr dirty="0"/>
              <a:t>panic</a:t>
            </a:r>
            <a:r>
              <a:rPr spc="-15" dirty="0"/>
              <a:t> </a:t>
            </a:r>
            <a:r>
              <a:rPr spc="-10" dirty="0"/>
              <a:t>movement.</a:t>
            </a:r>
            <a:endParaRPr spc="-10" dirty="0"/>
          </a:p>
          <a:p>
            <a:pPr marL="266065" indent="-260350">
              <a:lnSpc>
                <a:spcPct val="100000"/>
              </a:lnSpc>
              <a:spcBef>
                <a:spcPts val="1720"/>
              </a:spcBef>
              <a:buSzPct val="98000"/>
              <a:buFont typeface="Arial MT"/>
              <a:buChar char="●"/>
              <a:tabLst>
                <a:tab pos="266065" algn="l"/>
              </a:tabLst>
            </a:pPr>
            <a:r>
              <a:rPr dirty="0"/>
              <a:t>Generated</a:t>
            </a:r>
            <a:r>
              <a:rPr spc="-25" dirty="0"/>
              <a:t> </a:t>
            </a:r>
            <a:r>
              <a:rPr dirty="0"/>
              <a:t>instant</a:t>
            </a:r>
            <a:r>
              <a:rPr spc="-25" dirty="0"/>
              <a:t> </a:t>
            </a:r>
            <a:r>
              <a:rPr dirty="0"/>
              <a:t>alerts</a:t>
            </a:r>
            <a:r>
              <a:rPr spc="-25" dirty="0"/>
              <a:t> </a:t>
            </a:r>
            <a:r>
              <a:rPr dirty="0"/>
              <a:t>to</a:t>
            </a:r>
            <a:r>
              <a:rPr spc="-20" dirty="0"/>
              <a:t> </a:t>
            </a:r>
            <a:r>
              <a:rPr dirty="0"/>
              <a:t>improve</a:t>
            </a:r>
            <a:r>
              <a:rPr spc="-25" dirty="0"/>
              <a:t> </a:t>
            </a:r>
            <a:r>
              <a:rPr dirty="0"/>
              <a:t>emergency</a:t>
            </a:r>
            <a:r>
              <a:rPr spc="-20" dirty="0"/>
              <a:t> </a:t>
            </a:r>
            <a:r>
              <a:rPr dirty="0"/>
              <a:t>response</a:t>
            </a:r>
            <a:r>
              <a:rPr spc="-25" dirty="0"/>
              <a:t> </a:t>
            </a:r>
            <a:r>
              <a:rPr dirty="0"/>
              <a:t>and</a:t>
            </a:r>
            <a:r>
              <a:rPr spc="-20" dirty="0"/>
              <a:t> </a:t>
            </a:r>
            <a:r>
              <a:rPr dirty="0"/>
              <a:t>public</a:t>
            </a:r>
            <a:r>
              <a:rPr spc="-25" dirty="0"/>
              <a:t> </a:t>
            </a:r>
            <a:r>
              <a:rPr spc="-10" dirty="0"/>
              <a:t>safety.</a:t>
            </a:r>
            <a:endParaRPr spc="-10" dirty="0"/>
          </a:p>
          <a:p>
            <a:pPr marL="266065" indent="-260350">
              <a:lnSpc>
                <a:spcPct val="100000"/>
              </a:lnSpc>
              <a:spcBef>
                <a:spcPts val="1720"/>
              </a:spcBef>
              <a:buSzPct val="98000"/>
              <a:buFont typeface="Arial MT"/>
              <a:buChar char="●"/>
              <a:tabLst>
                <a:tab pos="266065" algn="l"/>
              </a:tabLst>
            </a:pPr>
            <a:r>
              <a:rPr dirty="0"/>
              <a:t>Reduced</a:t>
            </a:r>
            <a:r>
              <a:rPr spc="-35" dirty="0"/>
              <a:t> </a:t>
            </a:r>
            <a:r>
              <a:rPr dirty="0"/>
              <a:t>manual</a:t>
            </a:r>
            <a:r>
              <a:rPr spc="-40" dirty="0"/>
              <a:t> </a:t>
            </a:r>
            <a:r>
              <a:rPr dirty="0"/>
              <a:t>surveillance</a:t>
            </a:r>
            <a:r>
              <a:rPr spc="-35" dirty="0"/>
              <a:t> </a:t>
            </a:r>
            <a:r>
              <a:rPr dirty="0"/>
              <a:t>through</a:t>
            </a:r>
            <a:r>
              <a:rPr spc="-35" dirty="0"/>
              <a:t> </a:t>
            </a:r>
            <a:r>
              <a:rPr dirty="0"/>
              <a:t>automated</a:t>
            </a:r>
            <a:r>
              <a:rPr spc="-35" dirty="0"/>
              <a:t> </a:t>
            </a:r>
            <a:r>
              <a:rPr dirty="0"/>
              <a:t>intelligent</a:t>
            </a:r>
            <a:r>
              <a:rPr spc="-35" dirty="0"/>
              <a:t> </a:t>
            </a:r>
            <a:r>
              <a:rPr spc="-10" dirty="0"/>
              <a:t>monitoring.</a:t>
            </a:r>
            <a:endParaRPr spc="-10" dirty="0"/>
          </a:p>
          <a:p>
            <a:pPr marL="266065" indent="-260350">
              <a:lnSpc>
                <a:spcPct val="100000"/>
              </a:lnSpc>
              <a:spcBef>
                <a:spcPts val="1720"/>
              </a:spcBef>
              <a:buSzPct val="98000"/>
              <a:buFont typeface="Arial MT"/>
              <a:buChar char="●"/>
              <a:tabLst>
                <a:tab pos="266065" algn="l"/>
              </a:tabLst>
            </a:pPr>
            <a:r>
              <a:rPr dirty="0"/>
              <a:t>Improved</a:t>
            </a:r>
            <a:r>
              <a:rPr spc="-35" dirty="0"/>
              <a:t> </a:t>
            </a:r>
            <a:r>
              <a:rPr spc="-10" dirty="0"/>
              <a:t>accuracy,</a:t>
            </a:r>
            <a:r>
              <a:rPr spc="-20" dirty="0"/>
              <a:t> </a:t>
            </a:r>
            <a:r>
              <a:rPr spc="-10" dirty="0"/>
              <a:t>efficiency,</a:t>
            </a:r>
            <a:r>
              <a:rPr spc="-20" dirty="0"/>
              <a:t> </a:t>
            </a:r>
            <a:r>
              <a:rPr dirty="0"/>
              <a:t>and</a:t>
            </a:r>
            <a:r>
              <a:rPr spc="-25" dirty="0"/>
              <a:t> </a:t>
            </a:r>
            <a:r>
              <a:rPr dirty="0"/>
              <a:t>reliability</a:t>
            </a:r>
            <a:r>
              <a:rPr spc="-20" dirty="0"/>
              <a:t> </a:t>
            </a:r>
            <a:r>
              <a:rPr dirty="0"/>
              <a:t>of</a:t>
            </a:r>
            <a:r>
              <a:rPr spc="-20" dirty="0"/>
              <a:t> </a:t>
            </a:r>
            <a:r>
              <a:rPr dirty="0"/>
              <a:t>crowd</a:t>
            </a:r>
            <a:r>
              <a:rPr spc="-20" dirty="0"/>
              <a:t> </a:t>
            </a:r>
            <a:r>
              <a:rPr spc="-10" dirty="0"/>
              <a:t>management.</a:t>
            </a:r>
            <a:endParaRPr spc="-10" dirty="0"/>
          </a:p>
          <a:p>
            <a:pPr marL="266065" indent="-260350">
              <a:lnSpc>
                <a:spcPct val="100000"/>
              </a:lnSpc>
              <a:spcBef>
                <a:spcPts val="1720"/>
              </a:spcBef>
              <a:buSzPct val="98000"/>
              <a:buFont typeface="Arial MT"/>
              <a:buChar char="●"/>
              <a:tabLst>
                <a:tab pos="266065" algn="l"/>
              </a:tabLst>
            </a:pPr>
            <a:r>
              <a:rPr dirty="0"/>
              <a:t>Suitable</a:t>
            </a:r>
            <a:r>
              <a:rPr spc="-15" dirty="0"/>
              <a:t> </a:t>
            </a:r>
            <a:r>
              <a:rPr dirty="0"/>
              <a:t>for</a:t>
            </a:r>
            <a:r>
              <a:rPr spc="-5" dirty="0"/>
              <a:t> </a:t>
            </a:r>
            <a:r>
              <a:rPr dirty="0"/>
              <a:t>smart</a:t>
            </a:r>
            <a:r>
              <a:rPr spc="-15" dirty="0"/>
              <a:t> </a:t>
            </a:r>
            <a:r>
              <a:rPr dirty="0"/>
              <a:t>cities,</a:t>
            </a:r>
            <a:r>
              <a:rPr spc="-5" dirty="0"/>
              <a:t> </a:t>
            </a:r>
            <a:r>
              <a:rPr dirty="0"/>
              <a:t>airports,</a:t>
            </a:r>
            <a:r>
              <a:rPr spc="-10" dirty="0"/>
              <a:t> </a:t>
            </a:r>
            <a:r>
              <a:rPr dirty="0"/>
              <a:t>railway</a:t>
            </a:r>
            <a:r>
              <a:rPr spc="-5" dirty="0"/>
              <a:t> </a:t>
            </a:r>
            <a:r>
              <a:rPr dirty="0"/>
              <a:t>stations,</a:t>
            </a:r>
            <a:r>
              <a:rPr spc="-10" dirty="0"/>
              <a:t> </a:t>
            </a:r>
            <a:r>
              <a:rPr dirty="0"/>
              <a:t>stadiums,</a:t>
            </a:r>
            <a:r>
              <a:rPr spc="-5" dirty="0"/>
              <a:t> </a:t>
            </a:r>
            <a:r>
              <a:rPr dirty="0"/>
              <a:t>and</a:t>
            </a:r>
            <a:r>
              <a:rPr spc="-10" dirty="0"/>
              <a:t> </a:t>
            </a:r>
            <a:r>
              <a:rPr dirty="0"/>
              <a:t>other</a:t>
            </a:r>
            <a:r>
              <a:rPr spc="-5" dirty="0"/>
              <a:t> </a:t>
            </a:r>
            <a:r>
              <a:rPr dirty="0"/>
              <a:t>public</a:t>
            </a:r>
            <a:r>
              <a:rPr spc="-10" dirty="0"/>
              <a:t> places.</a:t>
            </a:r>
            <a:endParaRPr spc="-10" dirty="0"/>
          </a:p>
        </p:txBody>
      </p:sp>
      <p:pic>
        <p:nvPicPr>
          <p:cNvPr id="6" name="object 6"/>
          <p:cNvPicPr/>
          <p:nvPr/>
        </p:nvPicPr>
        <p:blipFill>
          <a:blip r:embed="rId1" cstate="print"/>
          <a:stretch>
            <a:fillRect/>
          </a:stretch>
        </p:blipFill>
        <p:spPr>
          <a:xfrm>
            <a:off x="407670" y="202565"/>
            <a:ext cx="11617959" cy="10642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1425" y="685152"/>
            <a:ext cx="10549890" cy="553720"/>
          </a:xfrm>
        </p:spPr>
        <p:txBody>
          <a:bodyPr/>
          <a:p>
            <a:r>
              <a:rPr lang="en-US"/>
              <a:t>                         Appendix-Sample code</a:t>
            </a:r>
            <a:endParaRPr lang="en-US"/>
          </a:p>
        </p:txBody>
      </p:sp>
      <p:pic>
        <p:nvPicPr>
          <p:cNvPr id="4" name="Picture 3"/>
          <p:cNvPicPr>
            <a:picLocks noChangeAspect="1"/>
          </p:cNvPicPr>
          <p:nvPr/>
        </p:nvPicPr>
        <p:blipFill>
          <a:blip r:embed="rId1"/>
          <a:stretch>
            <a:fillRect/>
          </a:stretch>
        </p:blipFill>
        <p:spPr>
          <a:xfrm>
            <a:off x="1689735" y="1524000"/>
            <a:ext cx="7416165" cy="47409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1425" y="685152"/>
            <a:ext cx="10549890" cy="553720"/>
          </a:xfrm>
        </p:spPr>
        <p:txBody>
          <a:bodyPr/>
          <a:p>
            <a:pPr algn="ctr"/>
            <a:r>
              <a:rPr lang="en-US"/>
              <a:t>Reference</a:t>
            </a:r>
            <a:endParaRPr lang="en-US"/>
          </a:p>
        </p:txBody>
      </p:sp>
      <p:sp>
        <p:nvSpPr>
          <p:cNvPr id="3" name="Text Placeholder 2"/>
          <p:cNvSpPr>
            <a:spLocks noGrp="1"/>
          </p:cNvSpPr>
          <p:nvPr>
            <p:ph type="body" idx="1"/>
          </p:nvPr>
        </p:nvSpPr>
        <p:spPr>
          <a:xfrm>
            <a:off x="655067" y="1505639"/>
            <a:ext cx="9924415" cy="3077845"/>
          </a:xfrm>
        </p:spPr>
        <p:txBody>
          <a:bodyPr/>
          <a:p>
            <a:pPr marL="457200" indent="-457200">
              <a:buAutoNum type="arabicPeriod"/>
            </a:pPr>
            <a:r>
              <a:rPr lang="en-US" altLang="en-US"/>
              <a:t>Zhang, Y., Zhou, D., Chen, S., Gao, S., &amp; Ma, Y. (2016). Single-Image Crowd Counting via Multi-Column Convolutional Neural Network. CVPR.</a:t>
            </a:r>
            <a:endParaRPr lang="en-US" altLang="en-US"/>
          </a:p>
          <a:p>
            <a:pPr marL="457200" indent="-457200">
              <a:buAutoNum type="arabicPeriod"/>
            </a:pPr>
            <a:r>
              <a:rPr lang="en-US" altLang="en-US"/>
              <a:t>Li, Y., Zhang, X., &amp; Chen, D. (2018). CSRNet: Dilated Convolutional Neural Networks for Understanding Highly Congested Scenes. CVPR.</a:t>
            </a:r>
            <a:endParaRPr lang="en-US" altLang="en-US"/>
          </a:p>
          <a:p>
            <a:pPr marL="457200" indent="-457200">
              <a:buAutoNum type="arabicPeriod"/>
            </a:pPr>
            <a:r>
              <a:rPr lang="en-US" altLang="en-US"/>
              <a:t>Sindagi, V. A., &amp; Patel, V. M. (2019). A Survey of Recent Advances in CNN-Based Single Image Crowd Counting and Density Estimation. Pattern Recognition Letters.</a:t>
            </a:r>
            <a:endParaRPr lang="en-US" altLang="en-US"/>
          </a:p>
          <a:p>
            <a:pPr marL="457200" indent="-457200">
              <a:buAutoNum type="arabicPeriod"/>
            </a:pPr>
            <a:r>
              <a:rPr lang="en-US" altLang="en-US"/>
              <a:t>Cohen, N., &amp; Hoshen, Y. (2020). Detecting and Tracking People in Crowded Scenes Using Deep Learning. IEEE.</a:t>
            </a:r>
            <a:endParaRPr lang="en-US" altLang="en-US"/>
          </a:p>
          <a:p>
            <a:pPr marL="457200" indent="-457200">
              <a:buAutoNum type="arabicPeriod"/>
            </a:pPr>
            <a:r>
              <a:rPr lang="en-US" altLang="en-US"/>
              <a:t>Cheng, Z.-Q., Dai, Q., Li, H., Song, J., Wu, X., &amp; Hauptmann, A. G. (2022). Rethinking Spatial Invariance of Convolutional Networks for Object Counting. ICCV.</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12330</Words>
  <Application>WPS Presentation</Application>
  <PresentationFormat>On-screen Show (4:3)</PresentationFormat>
  <Paragraphs>319</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SimSun</vt:lpstr>
      <vt:lpstr>Wingdings</vt:lpstr>
      <vt:lpstr>Times New Roman</vt:lpstr>
      <vt:lpstr>Arial MT</vt:lpstr>
      <vt:lpstr>Arial</vt:lpstr>
      <vt:lpstr>Microsoft YaHei</vt:lpstr>
      <vt:lpstr>Arial Unicode MS</vt:lpstr>
      <vt:lpstr>Calibri</vt:lpstr>
      <vt:lpstr>Wingdings</vt:lpstr>
      <vt:lpstr>Office Theme</vt:lpstr>
      <vt:lpstr>Deep Learning-Based Crowd Density Estimation and Anomaly Detection System Using Radial Basis Function Network (RBFN) with Open CV</vt:lpstr>
      <vt:lpstr>Abstract</vt:lpstr>
      <vt:lpstr>Introduction</vt:lpstr>
      <vt:lpstr>Literature Review</vt:lpstr>
      <vt:lpstr>Problem Statement</vt:lpstr>
      <vt:lpstr>Existing System</vt:lpstr>
      <vt:lpstr>Proposed System</vt:lpstr>
      <vt:lpstr>Overall System Architecture</vt:lpstr>
      <vt:lpstr>SDG-Sustainble development Goal</vt:lpstr>
      <vt:lpstr>Design&amp;Module Planning</vt:lpstr>
      <vt:lpstr>Module 1: Video Acquisition and Image Preprocessing</vt:lpstr>
      <vt:lpstr>PowerPoint 演示文稿</vt:lpstr>
      <vt:lpstr>Module 2: Human Detection and Feature Extraction</vt:lpstr>
      <vt:lpstr>PowerPoint 演示文稿</vt:lpstr>
      <vt:lpstr>This module uses the Radial Basis Function Network (RBFN) to estimate crowd density based on the extracted features. The trained model analyzes crowd characteristics and classifies density into Low, Medium, or High levels. The results are displayed in real time for effective crowd monitoring and management.</vt:lpstr>
      <vt:lpstr>PowerPoint 演示文稿</vt:lpstr>
      <vt:lpstr>Module 4: Anomaly Detection and Alert Generation</vt:lpstr>
      <vt:lpstr>PowerPoint 演示文稿</vt:lpstr>
      <vt:lpstr>Module 5: Dashboard, Visualization and Report Generation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Crowd Density Estimation and Anomaly Detection System Using Radial Basis Function Network (RBFN) with Open CV</dc:title>
  <dc:creator/>
  <cp:lastModifiedBy>moksh</cp:lastModifiedBy>
  <cp:revision>2</cp:revision>
  <dcterms:created xsi:type="dcterms:W3CDTF">2026-08-31T03:58:46Z</dcterms:created>
  <dcterms:modified xsi:type="dcterms:W3CDTF">2026-08-31T05:12:51Z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2026-08-31T05:30:00Z</vt:filetime>
  </property>
  <property fmtid="{D5CDD505-2E9C-101B-9397-08002B2CF9AE}" pid="4" name="Creator">
    <vt:lpwstr>Google</vt:lpwstr>
  </property>
  <property fmtid="{D5CDD505-2E9C-101B-9397-08002B2CF9AE}" pid="5" name="LastSaved">
    <vt:filetime>2026-08-31T05:30:00Z</vt:filetime>
  </property>
  <property fmtid="{D5CDD505-2E9C-101B-9397-08002B2CF9AE}" pid="6" name="KSOProductBuildVer">
    <vt:lpwstr>1033-12.1.0.28032</vt:lpwstr>
  </property>
  <property fmtid="{D5CDD505-2E9C-101B-9397-08002B2CF9AE}" pid="7" name="ICV">
    <vt:lpwstr>2BCAE010FE5540E98348253C928797CB_12</vt:lpwstr>
  </property>
</Properties>
</file>